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  <p:sldId id="257" r:id="rId4"/>
    <p:sldId id="258" r:id="rId5"/>
    <p:sldId id="277" r:id="rId6"/>
    <p:sldId id="259" r:id="rId7"/>
    <p:sldId id="278" r:id="rId8"/>
    <p:sldId id="279" r:id="rId9"/>
    <p:sldId id="260" r:id="rId10"/>
    <p:sldId id="261" r:id="rId11"/>
    <p:sldId id="262" r:id="rId12"/>
    <p:sldId id="280" r:id="rId13"/>
    <p:sldId id="281" r:id="rId14"/>
    <p:sldId id="263" r:id="rId15"/>
    <p:sldId id="264" r:id="rId16"/>
    <p:sldId id="282" r:id="rId17"/>
    <p:sldId id="265" r:id="rId18"/>
    <p:sldId id="266" r:id="rId19"/>
    <p:sldId id="267" r:id="rId20"/>
    <p:sldId id="269" r:id="rId21"/>
    <p:sldId id="268" r:id="rId22"/>
    <p:sldId id="284" r:id="rId23"/>
    <p:sldId id="270" r:id="rId24"/>
    <p:sldId id="272" r:id="rId25"/>
    <p:sldId id="273" r:id="rId26"/>
    <p:sldId id="274" r:id="rId27"/>
    <p:sldId id="275" r:id="rId28"/>
    <p:sldId id="276" r:id="rId29"/>
    <p:sldId id="283" r:id="rId30"/>
  </p:sldIdLst>
  <p:sldSz cx="12192000" cy="6858000"/>
  <p:notesSz cx="6858000" cy="9144000"/>
  <p:embeddedFontLst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Relationship Id="rId3" Type="http://schemas.openxmlformats.org/officeDocument/2006/relationships/image" Target="../media/image1.png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69.xml"/><Relationship Id="rId2" Type="http://schemas.openxmlformats.org/officeDocument/2006/relationships/image" Target="../media/image2.png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71.xml"/><Relationship Id="rId2" Type="http://schemas.openxmlformats.org/officeDocument/2006/relationships/image" Target="../media/image3.png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4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76.xml"/><Relationship Id="rId2" Type="http://schemas.openxmlformats.org/officeDocument/2006/relationships/image" Target="../media/image5.png"/><Relationship Id="rId1" Type="http://schemas.openxmlformats.org/officeDocument/2006/relationships/tags" Target="../tags/tag7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2" Type="http://schemas.openxmlformats.org/officeDocument/2006/relationships/image" Target="../media/image6.png"/><Relationship Id="rId1" Type="http://schemas.openxmlformats.org/officeDocument/2006/relationships/tags" Target="../tags/tag77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tags" Target="../tags/tag83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82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6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88.xml"/><Relationship Id="rId2" Type="http://schemas.openxmlformats.org/officeDocument/2006/relationships/image" Target="../media/image13.png"/><Relationship Id="rId1" Type="http://schemas.openxmlformats.org/officeDocument/2006/relationships/tags" Target="../tags/tag8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tags" Target="../tags/tag91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tags" Target="../tags/tag94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tags" Target="../tags/tag9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0.xml"/><Relationship Id="rId3" Type="http://schemas.openxmlformats.org/officeDocument/2006/relationships/image" Target="../media/image18.png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02.xml"/><Relationship Id="rId2" Type="http://schemas.openxmlformats.org/officeDocument/2006/relationships/image" Target="../media/image19.png"/><Relationship Id="rId1" Type="http://schemas.openxmlformats.org/officeDocument/2006/relationships/tags" Target="../tags/tag10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04.xml"/><Relationship Id="rId2" Type="http://schemas.openxmlformats.org/officeDocument/2006/relationships/image" Target="../media/image20.png"/><Relationship Id="rId1" Type="http://schemas.openxmlformats.org/officeDocument/2006/relationships/tags" Target="../tags/tag103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06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tags" Target="../tags/tag105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08.xml"/><Relationship Id="rId2" Type="http://schemas.openxmlformats.org/officeDocument/2006/relationships/image" Target="../media/image23.png"/><Relationship Id="rId1" Type="http://schemas.openxmlformats.org/officeDocument/2006/relationships/tags" Target="../tags/tag107.xml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2.xml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5.xml"/><Relationship Id="rId3" Type="http://schemas.openxmlformats.org/officeDocument/2006/relationships/image" Target="../media/image25.png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17.xml"/><Relationship Id="rId2" Type="http://schemas.openxmlformats.org/officeDocument/2006/relationships/image" Target="../media/image26.png"/><Relationship Id="rId1" Type="http://schemas.openxmlformats.org/officeDocument/2006/relationships/tags" Target="../tags/tag116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19.xml"/><Relationship Id="rId2" Type="http://schemas.openxmlformats.org/officeDocument/2006/relationships/image" Target="../media/image27.png"/><Relationship Id="rId1" Type="http://schemas.openxmlformats.org/officeDocument/2006/relationships/tags" Target="../tags/tag118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21.xml"/><Relationship Id="rId2" Type="http://schemas.openxmlformats.org/officeDocument/2006/relationships/image" Target="../media/image28.png"/><Relationship Id="rId1" Type="http://schemas.openxmlformats.org/officeDocument/2006/relationships/tags" Target="../tags/tag120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0.xml"/><Relationship Id="rId3" Type="http://schemas.openxmlformats.org/officeDocument/2006/relationships/tags" Target="../tags/tag123.xml"/><Relationship Id="rId2" Type="http://schemas.openxmlformats.org/officeDocument/2006/relationships/image" Target="../media/image29.png"/><Relationship Id="rId1" Type="http://schemas.openxmlformats.org/officeDocument/2006/relationships/tags" Target="../tags/tag12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25.xml"/><Relationship Id="rId1" Type="http://schemas.openxmlformats.org/officeDocument/2006/relationships/tags" Target="../tags/tag1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2058670"/>
            <a:ext cx="9799200" cy="2570400"/>
          </a:xfrm>
        </p:spPr>
        <p:txBody>
          <a:bodyPr>
            <a:normAutofit fontScale="90000"/>
          </a:bodyPr>
          <a:p>
            <a:r>
              <a:rPr lang="en-US" altLang="en-US"/>
              <a:t>Transact‑SQL: ключевые конструкции и приёмы оптимизации производительност</a:t>
            </a:r>
            <a:r>
              <a:rPr lang="ru-RU" altLang="en-US"/>
              <a:t>и</a:t>
            </a:r>
            <a:endParaRPr lang="ru-RU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GO — разделитель пакетов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GO — не оператор T-SQL. Это команда утилиты (SSMS, sqlcmd), которая разбивает текст на батчи (пакеты). Движок SQL Server получает батчи по отдельности.</a:t>
            </a:r>
            <a:r>
              <a:rPr lang="lv-LV" altLang="en-US"/>
              <a:t> </a:t>
            </a:r>
            <a:r>
              <a:rPr lang="en-US" altLang="en-US"/>
              <a:t>Батч — это набор операторов, который отправляется на сервер как единая единица компиляции. Сервер парсит, компилирует и строит план выполнения сразу для всего батча, а не построчно.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6" name="Picture 5" descr="Снимок экрана — 2026-09-15 в 21.39.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025" y="4326890"/>
            <a:ext cx="7581900" cy="11684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Почему батчи важны:</a:t>
            </a:r>
            <a:endParaRPr lang="en-US" altLang="en-US"/>
          </a:p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Компиляция.</a:t>
            </a:r>
            <a:r>
              <a:rPr lang="en-US" altLang="en-US"/>
              <a:t> План выполнения строится для всего батча сразу. Ошибка в любом месте — и весь батч не выполнится (если только нет TRY...CATCH).</a:t>
            </a:r>
            <a:endParaRPr lang="en-US" altLang="en-US"/>
          </a:p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Область видимости.</a:t>
            </a:r>
            <a:r>
              <a:rPr lang="en-US" altLang="en-US"/>
              <a:t> Переменные (@x), временные таблицы (#Temp) и локальные курсоры живут только в пределах одного батча. После GO они исчезают.</a:t>
            </a:r>
            <a:endParaRPr lang="en-US" altLang="en-US"/>
          </a:p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Ограничения на расположение.</a:t>
            </a:r>
            <a:r>
              <a:rPr lang="en-US" altLang="en-US"/>
              <a:t> Ряд операторов должны быть первыми в батче: CREATE PROCEDURE, CREATE VIEW, CREATE TRIGGER, CREATE FUNCTION, CREATE DEFAULT, CREATE RULE. Если перед ними стоит USE — нужен GO после USE.</a:t>
            </a:r>
            <a:endParaRPr lang="en-US" altLang="en-US"/>
          </a:p>
        </p:txBody>
      </p:sp>
      <p:pic>
        <p:nvPicPr>
          <p:cNvPr id="2" name="Picture 1" descr="Снимок экрана — 2026-09-15 в 22.29.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00" y="4629150"/>
            <a:ext cx="7620000" cy="14859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GO n — повторяет предыдущий батч n раз. Удобно для генерации тестовых данных.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Что не переживает GO:</a:t>
            </a:r>
            <a:r>
              <a:rPr lang="en-US" altLang="en-US"/>
              <a:t> локальные переменные, временные таблицы (#Temp), локальные курсоры, временные хранимые процедуры (#Proc).</a:t>
            </a:r>
            <a:endParaRPr lang="en-US" altLang="en-US"/>
          </a:p>
          <a:p>
            <a:pPr marL="0" indent="0">
              <a:buNone/>
            </a:pP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Что переживает GO:</a:t>
            </a:r>
            <a:r>
              <a:rPr lang="en-US" altLang="en-US"/>
              <a:t> глобальные временные таблицы (##Temp), обычные таблицы, постоянные процедуры, переменные окружения сессии (например, SET XACT_ABORT ON).</a:t>
            </a:r>
            <a:endParaRPr lang="en-US" altLang="en-US"/>
          </a:p>
        </p:txBody>
      </p:sp>
      <p:pic>
        <p:nvPicPr>
          <p:cNvPr id="5" name="Picture 4" descr="Снимок экрана — 2026-09-15 в 22.29.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384300"/>
            <a:ext cx="5461000" cy="7112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Переменные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457200">
              <a:buNone/>
            </a:pPr>
            <a:r>
              <a:rPr lang="en-US" altLang="en-US"/>
              <a:t>В отличие от многих языков программирования, в T-SQL переменные — это скалярные контейнеры с очень ограниченной областью видимости. Они существуют только в рамках одного батча или одного программного объекта (процедуры, триггера, функции). Глобальных пользовательских переменных не существует — @@-переменные системные, их нельзя создавать.</a:t>
            </a:r>
            <a:endParaRPr lang="en-US" altLang="en-US"/>
          </a:p>
          <a:p>
            <a:pPr marL="0" indent="457200">
              <a:buNone/>
            </a:pP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Объявление и инициализация:</a:t>
            </a:r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0" indent="457200">
              <a:buNone/>
            </a:pPr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0" indent="457200">
              <a:buNone/>
            </a:pPr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0" indent="457200">
              <a:buNone/>
            </a:pPr>
            <a:endParaRPr lang="en-US" altLang="en-US">
              <a:latin typeface="Helvetica Neue" panose="02000503000000020004" charset="0"/>
              <a:cs typeface="Helvetica Neue" panose="02000503000000020004" charset="0"/>
            </a:endParaRPr>
          </a:p>
          <a:p>
            <a:pPr marL="0" indent="457200">
              <a:buNone/>
            </a:pPr>
            <a:r>
              <a:rPr lang="en-US" altLang="en-US">
                <a:latin typeface="Helvetica Neue" panose="02000503000000020004" charset="0"/>
                <a:cs typeface="Helvetica Neue" panose="02000503000000020004" charset="0"/>
              </a:rPr>
              <a:t>С SQL Server 2008+ объявление и присваивание можно совмещать. До 2008 — только DECLARE @x INT; SET @x = 1;</a:t>
            </a:r>
            <a:endParaRPr lang="en-US" altLang="en-US">
              <a:latin typeface="Helvetica Neue" panose="02000503000000020004" charset="0"/>
              <a:cs typeface="Helvetica Neue" panose="02000503000000020004" charset="0"/>
            </a:endParaRPr>
          </a:p>
        </p:txBody>
      </p:sp>
      <p:pic>
        <p:nvPicPr>
          <p:cNvPr id="2" name="Picture 1" descr="Снимок экрана — 2026-09-15 в 22.33.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30" y="4064000"/>
            <a:ext cx="6172200" cy="9398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Два способа присваивания: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Это классическая ловушка: SELECT @x = col FROM table при десяти строках молча запишет последнее значение.</a:t>
            </a:r>
            <a:endParaRPr lang="en-US" altLang="en-US"/>
          </a:p>
        </p:txBody>
      </p:sp>
      <p:pic>
        <p:nvPicPr>
          <p:cNvPr id="5" name="Picture 4" descr="Снимок экрана — 2026-09-15 в 22.34.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422400"/>
            <a:ext cx="8674100" cy="15748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Системные переменные @@</a:t>
            </a:r>
            <a:endParaRPr lang="en-US" altLang="en-US"/>
          </a:p>
        </p:txBody>
      </p:sp>
      <p:pic>
        <p:nvPicPr>
          <p:cNvPr id="6" name="Picture 5" descr="Снимок экрана — 2026-09-15 в 22.35.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30" y="1669415"/>
            <a:ext cx="8242300" cy="44577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Ветвление IF...ELSE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IF...ELSE в T-SQL — это пакетное ветвление</a:t>
            </a:r>
            <a:r>
              <a:rPr lang="lv-LV" altLang="en-US"/>
              <a:t>.</a:t>
            </a:r>
            <a:r>
              <a:rPr lang="en-US" altLang="en-US"/>
              <a:t> </a:t>
            </a:r>
            <a:r>
              <a:rPr lang="ru-RU" altLang="en-US"/>
              <a:t>О</a:t>
            </a:r>
            <a:r>
              <a:rPr lang="en-US" altLang="en-US"/>
              <a:t>но управляет потоком выполнения операторов, а не возвращает значение (для этого есть IIF и CASE). Условие должно быть булевым выражением — T-SQL не поддерживает неявное преобразование ненулевых чисел в true, как Python.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Три нюанса:</a:t>
            </a:r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342900" indent="-342900">
              <a:buAutoNum type="arabicPeriod"/>
            </a:pPr>
            <a:r>
              <a:rPr lang="en-US" altLang="en-US"/>
              <a:t>Без BEGIN...END выполняется только один оператор. Несколько — обязательно группируем:</a:t>
            </a:r>
            <a:endParaRPr lang="en-US" altLang="en-US"/>
          </a:p>
        </p:txBody>
      </p:sp>
      <p:pic>
        <p:nvPicPr>
          <p:cNvPr id="6" name="Picture 5" descr="Снимок экрана — 2026-09-15 в 21.43.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30" y="3086100"/>
            <a:ext cx="6725920" cy="1318260"/>
          </a:xfrm>
          <a:prstGeom prst="rect">
            <a:avLst/>
          </a:prstGeom>
        </p:spPr>
      </p:pic>
      <p:pic>
        <p:nvPicPr>
          <p:cNvPr id="7" name="Picture 6" descr="Снимок экрана — 2026-09-15 в 21.44.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9250" y="5472430"/>
            <a:ext cx="4236085" cy="13188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ru-RU" altLang="en-US"/>
              <a:t>2. </a:t>
            </a:r>
            <a:r>
              <a:rPr lang="en-US" altLang="en-US"/>
              <a:t>В SQL NULL — это не «пустое значение», это неизвестность. Любое сравнение с NULL через = даёт UNKNOWN (не FALSE), а IF трактует UNKNOWN как false. Поэтому: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lv-LV" altLang="en-US"/>
              <a:t>3. </a:t>
            </a:r>
            <a:r>
              <a:rPr lang="en-US" altLang="en-US"/>
              <a:t>IF проверяет булево выражение, а не «есть ли строки». Поэтому IF (SELECT COUNT(*) FROM t) &gt; 0 работает, но IF EXISTS — быстрее (не считает все строки).</a:t>
            </a:r>
            <a:endParaRPr lang="en-US" altLang="en-US"/>
          </a:p>
        </p:txBody>
      </p:sp>
      <p:pic>
        <p:nvPicPr>
          <p:cNvPr id="2" name="Picture 1" descr="Снимок экрана — 2026-09-15 в 22.45.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63750"/>
            <a:ext cx="8623300" cy="1066800"/>
          </a:xfrm>
          <a:prstGeom prst="rect">
            <a:avLst/>
          </a:prstGeom>
        </p:spPr>
      </p:pic>
      <p:pic>
        <p:nvPicPr>
          <p:cNvPr id="3" name="Picture 2" descr="Снимок экрана — 2026-09-15 в 22.46.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311650"/>
            <a:ext cx="7607300" cy="19837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Цикл WHILE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endParaRPr lang="en-US" altLang="en-US"/>
          </a:p>
          <a:p>
            <a:r>
              <a:rPr lang="en-US" altLang="en-US"/>
              <a:t>BREAK — выход из цикла.</a:t>
            </a:r>
            <a:endParaRPr lang="en-US" altLang="en-US"/>
          </a:p>
          <a:p>
            <a:r>
              <a:rPr lang="en-US" altLang="en-US"/>
              <a:t>CONTINUE — переход к следующей итерации.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Важный принцип T-SQL:</a:t>
            </a:r>
            <a:r>
              <a:rPr lang="en-US" altLang="en-US"/>
              <a:t> циклы — это исключение, а не норма. T-SQL — декларативный язык по своей природе. Он оптимизирован для операций над множествами (set-based), а не для построчной обработки. Цикл WHILE — единственный цикл в T-SQL (нет FOR, FOREACH, DO...WHILE).Если вы пишете цикл — сначала подумайте, нельзя ли заменить одним UPDATE ... FROM ... JOIN. В 95% случаев можно.</a:t>
            </a:r>
            <a:endParaRPr lang="en-US" altLang="en-US"/>
          </a:p>
        </p:txBody>
      </p:sp>
      <p:pic>
        <p:nvPicPr>
          <p:cNvPr id="6" name="Picture 5" descr="Снимок экрана — 2026-09-15 в 21.46.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040" y="425450"/>
            <a:ext cx="6441440" cy="1739900"/>
          </a:xfrm>
          <a:prstGeom prst="rect">
            <a:avLst/>
          </a:prstGeom>
        </p:spPr>
      </p:pic>
      <p:pic>
        <p:nvPicPr>
          <p:cNvPr id="7" name="Picture 6" descr="Снимок экрана — 2026-09-15 в 21.48.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295" y="2870835"/>
            <a:ext cx="2515235" cy="111569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Почему циклы — зло в T-SQL:</a:t>
            </a:r>
            <a:endParaRPr lang="en-US" altLang="en-US" b="1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0" indent="0">
              <a:buNone/>
            </a:pPr>
            <a:r>
              <a:rPr lang="en-US" altLang="en-US"/>
              <a:t>Каждая итерация цикла — это отдельный round-trip внутри движка. Оператор UPDATE ... FROM ... JOIN обрабатывает миллион строк за одно действие, а цикл — миллион раз по одной строке. Разница в производительности может быть в сотни и тысячи раз.</a:t>
            </a:r>
            <a:endParaRPr lang="en-US" altLang="en-US"/>
          </a:p>
        </p:txBody>
      </p:sp>
      <p:pic>
        <p:nvPicPr>
          <p:cNvPr id="5" name="Picture 4" descr="Снимок экрана — 2026-09-15 в 22.49.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2984500"/>
            <a:ext cx="6400800" cy="26162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lnSpc>
                <a:spcPts val="28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>
                <a:solidFill>
                  <a:srgbClr val="000000"/>
                </a:solidFill>
                <a:latin typeface="ys text"/>
                <a:ea typeface="ys text"/>
                <a:sym typeface="+mn-ea"/>
              </a:rPr>
              <a:t>Когда цикл оправдан:</a:t>
            </a:r>
            <a:endParaRPr b="1">
              <a:solidFill>
                <a:srgbClr val="000000"/>
              </a:solidFill>
              <a:latin typeface="ys text"/>
              <a:ea typeface="ys text"/>
            </a:endParaRP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>
                <a:solidFill>
                  <a:srgbClr val="000000"/>
                </a:solidFill>
                <a:latin typeface="ys text"/>
                <a:ea typeface="ys text"/>
                <a:sym typeface="+mn-ea"/>
              </a:rPr>
              <a:t>Сложная бизнес-логика, которую нельзя выразить одним</a:t>
            </a:r>
            <a:r>
              <a:rPr lang="ru-RU">
                <a:solidFill>
                  <a:srgbClr val="000000"/>
                </a:solidFill>
                <a:latin typeface="ys text"/>
                <a:ea typeface="ys text"/>
                <a:sym typeface="+mn-ea"/>
              </a:rPr>
              <a:t> </a:t>
            </a:r>
            <a:r>
              <a:rPr lang="lv-LV" altLang="ru-RU">
                <a:solidFill>
                  <a:srgbClr val="000000"/>
                </a:solidFill>
                <a:latin typeface="ys text"/>
                <a:ea typeface="ys text"/>
                <a:sym typeface="+mn-ea"/>
              </a:rPr>
              <a:t>UPDATE </a:t>
            </a:r>
            <a:r>
              <a:rPr lang="en-US" altLang="en-US">
                <a:solidFill>
                  <a:srgbClr val="000000"/>
                </a:solidFill>
                <a:latin typeface="ys text"/>
                <a:ea typeface="ys text"/>
                <a:sym typeface="+mn-ea"/>
              </a:rPr>
              <a:t>(например, расчёт зависит от результатов предыдущей строки и не покрывается оконными функциями).</a:t>
            </a:r>
            <a:endParaRPr lang="en-US" altLang="en-US">
              <a:solidFill>
                <a:srgbClr val="000000"/>
              </a:solidFill>
              <a:latin typeface="ys text"/>
              <a:ea typeface="ys text"/>
              <a:sym typeface="+mn-ea"/>
            </a:endParaRP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altLang="en-US">
                <a:solidFill>
                  <a:srgbClr val="000000"/>
                </a:solidFill>
                <a:latin typeface="ys text"/>
                <a:ea typeface="ys text"/>
                <a:sym typeface="+mn-ea"/>
              </a:rPr>
              <a:t>Административные задачи (проход по списку таблиц, выполнение динамического SQL для каждой).</a:t>
            </a:r>
            <a:endParaRPr lang="en-US" altLang="en-US">
              <a:solidFill>
                <a:srgbClr val="000000"/>
              </a:solidFill>
              <a:latin typeface="ys text"/>
              <a:ea typeface="ys text"/>
              <a:sym typeface="+mn-ea"/>
            </a:endParaRP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lang="en-US" altLang="en-US">
                <a:solidFill>
                  <a:srgbClr val="000000"/>
                </a:solidFill>
                <a:latin typeface="ys text"/>
                <a:ea typeface="ys text"/>
                <a:sym typeface="+mn-ea"/>
              </a:rPr>
              <a:t>Генерация тестовых данных.</a:t>
            </a:r>
            <a:endParaRPr lang="en-US" altLang="en-US">
              <a:solidFill>
                <a:srgbClr val="000000"/>
              </a:solidFill>
              <a:latin typeface="ys text"/>
              <a:ea typeface="ys text"/>
              <a:sym typeface="+mn-ea"/>
            </a:endParaRPr>
          </a:p>
          <a:p>
            <a:pPr marL="0" indent="0">
              <a:spcBef>
                <a:spcPts val="800"/>
              </a:spcBef>
              <a:spcAft>
                <a:spcPts val="800"/>
              </a:spcAft>
              <a:buNone/>
            </a:pPr>
            <a:endParaRPr lang="en-US" altLang="en-US">
              <a:solidFill>
                <a:srgbClr val="000000"/>
              </a:solidFill>
              <a:latin typeface="ys text"/>
              <a:ea typeface="ys text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Обработка ошибок TRY...CATCH</a:t>
            </a:r>
            <a:endParaRPr lang="en-US" altLang="en-US"/>
          </a:p>
        </p:txBody>
      </p:sp>
      <p:pic>
        <p:nvPicPr>
          <p:cNvPr id="6" name="Picture 5" descr="Снимок экрана — 2026-09-15 в 21.49.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" y="3768725"/>
            <a:ext cx="6142355" cy="2131695"/>
          </a:xfrm>
          <a:prstGeom prst="rect">
            <a:avLst/>
          </a:prstGeom>
        </p:spPr>
      </p:pic>
      <p:pic>
        <p:nvPicPr>
          <p:cNvPr id="8" name="Picture 7" descr="Снимок экрана — 2026-09-15 в 21.50.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1255" y="3227705"/>
            <a:ext cx="5448300" cy="3213100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63500" y="63500"/>
            <a:ext cx="5080000" cy="635000"/>
          </a:xfrm>
          <a:prstGeom prst="rect">
            <a:avLst/>
          </a:prstGeom>
        </p:spPr>
        <p:txBody>
          <a:bodyPr/>
          <a:p/>
        </p:txBody>
      </p:sp>
      <p:sp>
        <p:nvSpPr>
          <p:cNvPr id="3" name="Text Box 2"/>
          <p:cNvSpPr txBox="1"/>
          <p:nvPr/>
        </p:nvSpPr>
        <p:spPr>
          <a:xfrm>
            <a:off x="457200" y="1571625"/>
            <a:ext cx="10968990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ct val="150000"/>
              </a:lnSpc>
            </a:pPr>
            <a:r>
              <a:rPr b="0" i="0">
                <a:solidFill>
                  <a:srgbClr val="333333"/>
                </a:solidFill>
                <a:latin typeface="Consolas"/>
                <a:ea typeface="Consolas"/>
              </a:rPr>
              <a:t>TRY...CATCH</a:t>
            </a:r>
            <a:r>
              <a:rPr lang="lv-LV" b="0" i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altLang="en-US" b="0" i="0">
                <a:solidFill>
                  <a:srgbClr val="333333"/>
                </a:solidFill>
                <a:latin typeface="Consolas"/>
                <a:ea typeface="Consolas"/>
              </a:rPr>
              <a:t>работает только на уровне батча (или процедуры/триггера). Если ошибка происходит в одной процедуре, а</a:t>
            </a:r>
            <a:r>
              <a:rPr lang="lv-LV" altLang="en-US" b="0" i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altLang="en-US" b="0" i="0">
                <a:solidFill>
                  <a:srgbClr val="333333"/>
                </a:solidFill>
                <a:latin typeface="Consolas"/>
                <a:ea typeface="Consolas"/>
              </a:rPr>
              <a:t>TRY</a:t>
            </a:r>
            <a:r>
              <a:rPr lang="lv-LV" altLang="en-US" b="0" i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altLang="en-US" b="0" i="0">
                <a:solidFill>
                  <a:srgbClr val="333333"/>
                </a:solidFill>
                <a:latin typeface="Consolas"/>
                <a:ea typeface="Consolas"/>
              </a:rPr>
              <a:t>— в вызывающей, перехват сработает. Но если ошибка с высокой severity (20+) — соединение разрывается, и</a:t>
            </a:r>
            <a:r>
              <a:rPr lang="lv-LV" altLang="en-US" b="0" i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altLang="en-US" b="0" i="0">
                <a:solidFill>
                  <a:srgbClr val="333333"/>
                </a:solidFill>
                <a:latin typeface="Consolas"/>
                <a:ea typeface="Consolas"/>
              </a:rPr>
              <a:t>CATCH</a:t>
            </a:r>
            <a:r>
              <a:rPr lang="lv-LV" altLang="en-US" b="0" i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altLang="en-US" b="0" i="0">
                <a:solidFill>
                  <a:srgbClr val="333333"/>
                </a:solidFill>
                <a:latin typeface="Consolas"/>
                <a:ea typeface="Consolas"/>
              </a:rPr>
              <a:t>не выполнится.</a:t>
            </a:r>
            <a:endParaRPr lang="en-US" altLang="en-US" b="0" i="0">
              <a:solidFill>
                <a:srgbClr val="333333"/>
              </a:solidFill>
              <a:latin typeface="Consolas"/>
              <a:ea typeface="Consolas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THROW vs RAISERROR: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5" name="Picture 4" descr="Снимок экрана — 2026-09-15 в 21.51.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1299845"/>
            <a:ext cx="5626100" cy="2324100"/>
          </a:xfrm>
          <a:prstGeom prst="rect">
            <a:avLst/>
          </a:prstGeom>
        </p:spPr>
      </p:pic>
      <p:pic>
        <p:nvPicPr>
          <p:cNvPr id="6" name="Picture 5" descr="Снимок экрана — 2026-09-15 в 21.51.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5" y="3881755"/>
            <a:ext cx="6337300" cy="237490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6400165" y="671830"/>
            <a:ext cx="546989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%d</a:t>
            </a:r>
            <a:r>
              <a:rPr lang="en-US" altLang="en-US"/>
              <a:t> — плейсхолдер для подстановки значени</a:t>
            </a:r>
            <a:r>
              <a:rPr lang="ru-RU" altLang="en-US"/>
              <a:t>я</a:t>
            </a:r>
            <a:r>
              <a:rPr lang="en-US" altLang="en-US"/>
              <a:t> переменной @orderId.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16</a:t>
            </a:r>
            <a:r>
              <a:rPr lang="en-US" altLang="en-US"/>
              <a:t> — уровень серьёзности (severity).</a:t>
            </a:r>
            <a:r>
              <a:rPr lang="ru-RU" altLang="en-US"/>
              <a:t> </a:t>
            </a:r>
            <a:r>
              <a:rPr lang="en-US" altLang="en-US"/>
              <a:t>Уровни 0–10 — информационные сообщения, 17–19 — ошибки ресурсов, 20+ — критические.</a:t>
            </a:r>
            <a:endParaRPr lang="en-US" altLang="en-US"/>
          </a:p>
          <a:p>
            <a:endParaRPr lang="en-US" altLang="en-US"/>
          </a:p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1 </a:t>
            </a:r>
            <a:r>
              <a:rPr lang="en-US" altLang="en-US"/>
              <a:t>— состояние (state).</a:t>
            </a:r>
            <a:r>
              <a:rPr lang="ru-RU" altLang="en-US"/>
              <a:t> </a:t>
            </a:r>
            <a:r>
              <a:rPr lang="en-US" altLang="en-US"/>
              <a:t>Число от 0 до 255, помогает локализовать место ошибки в коде. </a:t>
            </a:r>
            <a:endParaRPr lang="en-US" altLang="en-US"/>
          </a:p>
          <a:p>
            <a:endParaRPr lang="en-US" altLang="en-US"/>
          </a:p>
        </p:txBody>
      </p:sp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ru-RU" altLang="lv-LV"/>
              <a:t>Индексы</a:t>
            </a:r>
            <a:endParaRPr lang="ru-RU" altLang="lv-LV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Индекс </a:t>
            </a:r>
            <a:r>
              <a:rPr lang="en-US" altLang="en-US"/>
              <a:t>— это отдельная структура данных, хранящая копию части данных таблицы в упорядоченном виде. Без индекса серверу пришлось бы сканировать всю таблицу</a:t>
            </a:r>
            <a:r>
              <a:rPr lang="ru-RU" altLang="en-US"/>
              <a:t> </a:t>
            </a:r>
            <a:r>
              <a:rPr lang="en-US" altLang="en-US"/>
              <a:t>для каждого поиска. С индексом — перемещаться по B-дереву, что даёт сложность O(log</a:t>
            </a:r>
            <a:r>
              <a:rPr lang="ru-RU" altLang="en-US"/>
              <a:t> </a:t>
            </a:r>
            <a:r>
              <a:rPr lang="en-US" altLang="en-US"/>
              <a:t>n)</a:t>
            </a:r>
            <a:r>
              <a:rPr lang="ru-RU" altLang="en-US"/>
              <a:t> </a:t>
            </a:r>
            <a:r>
              <a:rPr lang="en-US" altLang="en-US"/>
              <a:t>вместо O(n).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SQL Server использует B+ деревья (B-tree плюс linked list на уровне листьев) для rowstore-индексов. У B+ дерева:</a:t>
            </a:r>
            <a:endParaRPr lang="en-US" altLang="en-US"/>
          </a:p>
          <a:p>
            <a:pPr marL="285750" indent="-285750"/>
            <a:r>
              <a:rPr lang="en-US" altLang="en-US"/>
              <a:t>Внутренние узлы содержат только ключи и указатели.</a:t>
            </a:r>
            <a:endParaRPr lang="en-US" altLang="en-US"/>
          </a:p>
          <a:p>
            <a:pPr marL="285750" indent="-285750"/>
            <a:r>
              <a:rPr lang="en-US" altLang="en-US"/>
              <a:t>Листовые узлы содержат данные (для кластерного) или указатели на данные (для некластерного).</a:t>
            </a:r>
            <a:endParaRPr lang="en-US" altLang="en-US"/>
          </a:p>
          <a:p>
            <a:pPr marL="285750" indent="-285750"/>
            <a:r>
              <a:rPr lang="en-US" altLang="en-US"/>
              <a:t>Листовые узлы связаны в двунаправленный список — это позволяет эффективно делать range-scan (сканирование диапазона).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Индексы — основа производительности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 u="sng">
                <a:latin typeface="Helvetica Neue Bold" panose="02000503000000020004" charset="0"/>
                <a:cs typeface="Helvetica Neue Bold" panose="02000503000000020004" charset="0"/>
              </a:rPr>
              <a:t>Кластерный индекс</a:t>
            </a:r>
            <a:endParaRPr lang="en-US" altLang="en-US" b="1" u="sng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0" indent="0">
              <a:buNone/>
            </a:pPr>
            <a:r>
              <a:rPr lang="en-US" altLang="en-US"/>
              <a:t>Определяет физический порядок хранения строк. Таблица без него — куча (heap).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Один на таблицу.</a:t>
            </a:r>
            <a:endParaRPr lang="en-US" altLang="en-US"/>
          </a:p>
          <a:p>
            <a:r>
              <a:rPr lang="en-US" altLang="en-US"/>
              <a:t>Листовые узлы B-дерева и есть строки данных.</a:t>
            </a:r>
            <a:endParaRPr lang="en-US" altLang="en-US"/>
          </a:p>
          <a:p>
            <a:r>
              <a:rPr lang="en-US" altLang="en-US"/>
              <a:t>Первичный ключ по умолчанию создаёт кластерный индекс (если другого нет).</a:t>
            </a:r>
            <a:endParaRPr lang="en-US" altLang="en-US"/>
          </a:p>
        </p:txBody>
      </p:sp>
      <p:pic>
        <p:nvPicPr>
          <p:cNvPr id="6" name="Picture 5" descr="Снимок экрана — 2026-09-15 в 21.58.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95" y="2820670"/>
            <a:ext cx="5588000" cy="3429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 u="sng">
                <a:latin typeface="Helvetica Neue Bold" panose="02000503000000020004" charset="0"/>
                <a:cs typeface="Helvetica Neue Bold" panose="02000503000000020004" charset="0"/>
              </a:rPr>
              <a:t>Некластерный индекс</a:t>
            </a:r>
            <a:endParaRPr lang="en-US" altLang="en-US" b="1" u="sng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0" indent="0">
              <a:buNone/>
            </a:pPr>
            <a:r>
              <a:rPr lang="en-US" altLang="en-US"/>
              <a:t>Отдельная структура, указатели на строки.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До 999 на таблицу.</a:t>
            </a:r>
            <a:endParaRPr lang="en-US" altLang="en-US"/>
          </a:p>
          <a:p>
            <a:r>
              <a:rPr lang="en-US" altLang="en-US"/>
              <a:t>При поиске по индексу движок находит указатель, затем идёт в таблицу за остальными столбцами — это операция Key Lookup. Если таких лукапов много — индекс не окупается.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5" name="Picture 4" descr="Снимок экрана — 2026-09-15 в 21.59.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5" y="1907540"/>
            <a:ext cx="8026400" cy="3429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 u="sng">
                <a:latin typeface="Helvetica Neue Bold" panose="02000503000000020004" charset="0"/>
                <a:cs typeface="Helvetica Neue Bold" panose="02000503000000020004" charset="0"/>
              </a:rPr>
              <a:t>Покрывающий индекс — INCLUDE</a:t>
            </a:r>
            <a:endParaRPr lang="en-US" altLang="en-US" b="1" u="sng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0" indent="0">
              <a:buNone/>
            </a:pPr>
            <a:endParaRPr lang="en-US" altLang="en-US" b="1" u="sng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0" indent="0">
              <a:buNone/>
            </a:pPr>
            <a:endParaRPr lang="en-US" altLang="en-US" b="1" u="sng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0" indent="0">
              <a:buNone/>
            </a:pPr>
            <a:endParaRPr lang="en-US" altLang="en-US" b="1" u="sng">
              <a:latin typeface="Helvetica Neue Bold" panose="02000503000000020004" charset="0"/>
              <a:cs typeface="Helvetica Neue Bold" panose="02000503000000020004" charset="0"/>
            </a:endParaRPr>
          </a:p>
          <a:p>
            <a:r>
              <a:rPr lang="en-US" altLang="en-US">
                <a:latin typeface="Helvetica Neue" panose="02000503000000020004" charset="0"/>
                <a:cs typeface="Helvetica Neue" panose="02000503000000020004" charset="0"/>
              </a:rPr>
              <a:t>Включённые столбцы хранятся на уровне листьев, но не участвуют в поиске по ключу.</a:t>
            </a:r>
            <a:endParaRPr lang="en-US" altLang="en-US">
              <a:latin typeface="Helvetica Neue" panose="02000503000000020004" charset="0"/>
              <a:cs typeface="Helvetica Neue" panose="02000503000000020004" charset="0"/>
            </a:endParaRPr>
          </a:p>
          <a:p>
            <a:r>
              <a:rPr lang="en-US" altLang="en-US">
                <a:latin typeface="Helvetica Neue" panose="02000503000000020004" charset="0"/>
                <a:cs typeface="Helvetica Neue" panose="02000503000000020004" charset="0"/>
              </a:rPr>
              <a:t>Запрос получает все нужные данные из индекса — Key Lookup не нужен.</a:t>
            </a:r>
            <a:endParaRPr lang="en-US" altLang="en-US">
              <a:latin typeface="Helvetica Neue" panose="02000503000000020004" charset="0"/>
              <a:cs typeface="Helvetica Neue" panose="02000503000000020004" charset="0"/>
            </a:endParaRPr>
          </a:p>
          <a:p>
            <a:r>
              <a:rPr lang="ru-RU" altLang="en-US">
                <a:latin typeface="Helvetica Neue" panose="02000503000000020004" charset="0"/>
                <a:cs typeface="Helvetica Neue" panose="02000503000000020004" charset="0"/>
              </a:rPr>
              <a:t>С</a:t>
            </a:r>
            <a:r>
              <a:rPr lang="en-US" altLang="en-US">
                <a:latin typeface="Helvetica Neue" panose="02000503000000020004" charset="0"/>
                <a:cs typeface="Helvetica Neue" panose="02000503000000020004" charset="0"/>
              </a:rPr>
              <a:t>толбцы в INCLUDE нельзя использовать для фильтра по индексу (только для покрытия SELECT).</a:t>
            </a:r>
            <a:endParaRPr lang="en-US" altLang="en-US">
              <a:latin typeface="Helvetica Neue" panose="02000503000000020004" charset="0"/>
              <a:cs typeface="Helvetica Neue" panose="02000503000000020004" charset="0"/>
            </a:endParaRPr>
          </a:p>
        </p:txBody>
      </p:sp>
      <p:pic>
        <p:nvPicPr>
          <p:cNvPr id="5" name="Picture 4" descr="Снимок экрана — 2026-09-15 в 22.00.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1521460"/>
            <a:ext cx="5156200" cy="889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 u="sng">
                <a:latin typeface="Helvetica Neue Bold" panose="02000503000000020004" charset="0"/>
                <a:cs typeface="Helvetica Neue Bold" panose="02000503000000020004" charset="0"/>
              </a:rPr>
              <a:t>Уникальный индекс</a:t>
            </a:r>
            <a:endParaRPr lang="en-US" altLang="en-US" b="1" u="sng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Гарантирует уникальность. SQL Server допускает один NULL (по одному столбцу). Для запрета NULL — фильтрованный индекс WHERE Email IS NOT NULL.</a:t>
            </a:r>
            <a:endParaRPr lang="en-US" altLang="en-US"/>
          </a:p>
          <a:p>
            <a:pPr marL="0" indent="0">
              <a:buNone/>
            </a:pPr>
            <a:endParaRPr lang="en-US" altLang="en-US" b="1" u="sng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0" indent="0">
              <a:buNone/>
            </a:pPr>
            <a:r>
              <a:rPr lang="en-US" altLang="en-US" b="1" u="sng">
                <a:latin typeface="Helvetica Neue Bold" panose="02000503000000020004" charset="0"/>
                <a:cs typeface="Helvetica Neue Bold" panose="02000503000000020004" charset="0"/>
              </a:rPr>
              <a:t>Columnstore Index — для аналитики</a:t>
            </a:r>
            <a:endParaRPr lang="en-US" altLang="en-US" b="1" u="sng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Хранит данные по столбцам, сжатие в 5–10 раз.</a:t>
            </a:r>
            <a:endParaRPr lang="en-US" altLang="en-US"/>
          </a:p>
          <a:p>
            <a:r>
              <a:rPr lang="en-US" altLang="en-US"/>
              <a:t>Идеален для SUM, AVG, GROUP BY по миллионам строк.</a:t>
            </a:r>
            <a:endParaRPr lang="en-US" altLang="en-US"/>
          </a:p>
          <a:p>
            <a:r>
              <a:rPr lang="en-US" altLang="en-US"/>
              <a:t>Не подходит для OLTP — медленные одиночные INSERT/UPDATE.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5" name="Picture 4" descr="Снимок экрана — 2026-09-15 в 22.04.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530" y="1274445"/>
            <a:ext cx="7467600" cy="393700"/>
          </a:xfrm>
          <a:prstGeom prst="rect">
            <a:avLst/>
          </a:prstGeom>
        </p:spPr>
      </p:pic>
      <p:pic>
        <p:nvPicPr>
          <p:cNvPr id="6" name="Picture 5" descr="Снимок экрана — 2026-09-15 в 22.05.5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530" y="3580765"/>
            <a:ext cx="7264400" cy="3429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 b="1" u="sng">
                <a:latin typeface="Helvetica Neue Bold" panose="02000503000000020004" charset="0"/>
                <a:cs typeface="Helvetica Neue Bold" panose="02000503000000020004" charset="0"/>
              </a:rPr>
              <a:t>Фильтрованный индекс</a:t>
            </a:r>
            <a:endParaRPr lang="en-US" altLang="en-US" b="1" u="sng">
              <a:latin typeface="Helvetica Neue Bold" panose="02000503000000020004" charset="0"/>
              <a:cs typeface="Helvetica Neue Bold" panose="02000503000000020004" charset="0"/>
            </a:endParaRPr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Индексируются только строки, подходящие под условие.</a:t>
            </a:r>
            <a:endParaRPr lang="en-US" altLang="en-US"/>
          </a:p>
          <a:p>
            <a:r>
              <a:rPr lang="en-US" altLang="en-US"/>
              <a:t>Меньше размер, быстрее обслуживание.</a:t>
            </a:r>
            <a:endParaRPr lang="en-US" altLang="en-US"/>
          </a:p>
          <a:p>
            <a:r>
              <a:rPr lang="en-US" altLang="en-US"/>
              <a:t>Идеально для </a:t>
            </a:r>
            <a:r>
              <a:rPr lang="ru-RU" altLang="en-US"/>
              <a:t>значимых </a:t>
            </a:r>
            <a:r>
              <a:rPr lang="en-US" altLang="en-US"/>
              <a:t>данных: </a:t>
            </a:r>
            <a:r>
              <a:rPr lang="en-US" altLang="en-US" u="sng"/>
              <a:t>«активные» заказы — 5%</a:t>
            </a:r>
            <a:r>
              <a:rPr lang="en-US" altLang="en-US"/>
              <a:t>, «архивные» — 95%.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5" name="Picture 4" descr="Снимок экрана — 2026-09-15 в 22.02.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1413510"/>
            <a:ext cx="4787900" cy="9017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>
                <a:sym typeface="+mn-ea"/>
              </a:rPr>
              <a:t>Обслуживание индексов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Индексы со временем фрагментируются — логический порядок страниц расходится с физическим из-за вставок, обновлений и удалений. Это заставляет движок «прыгать» между страницами и замедляет запросы.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graphicFrame>
        <p:nvGraphicFramePr>
          <p:cNvPr id="6" name="Table 5"/>
          <p:cNvGraphicFramePr/>
          <p:nvPr/>
        </p:nvGraphicFramePr>
        <p:xfrm>
          <a:off x="608330" y="2851150"/>
          <a:ext cx="10970260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935"/>
                <a:gridCol w="1652905"/>
                <a:gridCol w="3134995"/>
                <a:gridCol w="416242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Фрагментация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Действие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Что происходит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Нюансы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&lt; 5%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Ничего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Фрагментация незначительна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Попытка обслуживания даст лишнюю нагрузку без пользы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5–30%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REORGANIZE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Переупорядочивает страницы «на месте», уплотняет данные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Лёгкая операция, почти не блокирует таблицу, подходит для регулярной поддержки</a:t>
                      </a:r>
                      <a:endParaRPr lang="en-US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&gt; 30%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REBUILD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Удаляет индекс и строит заново</a:t>
                      </a:r>
                      <a:endParaRPr lang="en-US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Требует места (хранит старый и новый индекс одновременно), ресурсоёмко; в Standard Edition по умолчанию — offline (блокировка таблицы)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Снимок экрана — 2026-09-15 в 22.14.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995" y="494665"/>
            <a:ext cx="6885940" cy="279590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11455" y="3529965"/>
            <a:ext cx="1130109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1600" b="1">
                <a:latin typeface="Helvetica Neue Bold" panose="02000503000000020004" charset="0"/>
                <a:cs typeface="Helvetica Neue Bold" panose="02000503000000020004" charset="0"/>
              </a:rPr>
              <a:t>Важный нюанс:</a:t>
            </a:r>
            <a:r>
              <a:rPr sz="1600"/>
              <a:t> фильтр</a:t>
            </a:r>
            <a:r>
              <a:rPr lang="ru-RU" sz="1600"/>
              <a:t> </a:t>
            </a:r>
            <a:r>
              <a:rPr lang="lv-LV" altLang="ru-RU" sz="1600"/>
              <a:t>page_count &gt; 1000 </a:t>
            </a:r>
            <a:r>
              <a:rPr lang="en-US" altLang="en-US" sz="1600"/>
              <a:t>исключает мелкие индексы — для них обслуживание обычно не нужно.</a:t>
            </a:r>
            <a:endParaRPr lang="en-US" altLang="en-US" sz="1600"/>
          </a:p>
        </p:txBody>
      </p:sp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Нюансы T-SQL, которые стоит знать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TOP </a:t>
            </a:r>
            <a:r>
              <a:rPr lang="en-US" altLang="en-US">
                <a:latin typeface="Helvetica Neue" panose="02000503000000020004" charset="0"/>
                <a:cs typeface="Helvetica Neue" panose="02000503000000020004" charset="0"/>
              </a:rPr>
              <a:t>— специфика</a:t>
            </a:r>
            <a:endParaRPr lang="en-US" altLang="en-US">
              <a:latin typeface="Helvetica Neue" panose="02000503000000020004" charset="0"/>
              <a:cs typeface="Helvetica Neue" panose="02000503000000020004" charset="0"/>
            </a:endParaRPr>
          </a:p>
        </p:txBody>
      </p:sp>
      <p:pic>
        <p:nvPicPr>
          <p:cNvPr id="6" name="Picture 5" descr="Снимок экрана — 2026-09-15 в 22.16.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030" y="2173605"/>
            <a:ext cx="7696200" cy="23114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OUTPUT </a:t>
            </a:r>
            <a:r>
              <a:rPr lang="en-US" altLang="en-US"/>
              <a:t>— данные, изменённые DML</a:t>
            </a:r>
            <a:endParaRPr lang="en-US" altLang="en-US"/>
          </a:p>
        </p:txBody>
      </p:sp>
      <p:pic>
        <p:nvPicPr>
          <p:cNvPr id="5" name="Picture 4" descr="Снимок экрана — 2026-09-15 в 22.18.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1362710"/>
            <a:ext cx="7112000" cy="430530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3500" y="63500"/>
            <a:ext cx="5080000" cy="635000"/>
          </a:xfrm>
          <a:prstGeom prst="rect">
            <a:avLst/>
          </a:prstGeom>
        </p:spPr>
        <p:txBody>
          <a:bodyPr/>
          <a:p/>
        </p:txBody>
      </p:sp>
      <p:sp>
        <p:nvSpPr>
          <p:cNvPr id="2" name="Text Box 1"/>
          <p:cNvSpPr txBox="1"/>
          <p:nvPr/>
        </p:nvSpPr>
        <p:spPr>
          <a:xfrm>
            <a:off x="7937500" y="1362710"/>
            <a:ext cx="3962400" cy="2248535"/>
          </a:xfrm>
          <a:prstGeom prst="rect">
            <a:avLst/>
          </a:prstGeom>
        </p:spPr>
        <p:txBody>
          <a:bodyPr>
            <a:noAutofit/>
          </a:bodyPr>
          <a:p>
            <a:pPr marL="0" indent="0"/>
            <a:r>
              <a:rPr sz="1600" b="0" i="0">
                <a:solidFill>
                  <a:srgbClr val="333333"/>
                </a:solidFill>
                <a:latin typeface="Consolas"/>
                <a:ea typeface="Consolas"/>
              </a:rPr>
              <a:t>inserted</a:t>
            </a:r>
            <a:r>
              <a:rPr lang="lv-LV" sz="1600" b="0" i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altLang="en-US" sz="1600" b="0" i="0">
                <a:solidFill>
                  <a:srgbClr val="333333"/>
                </a:solidFill>
                <a:latin typeface="Consolas"/>
                <a:ea typeface="Consolas"/>
              </a:rPr>
              <a:t>— новые значения,</a:t>
            </a:r>
            <a:endParaRPr lang="en-US" altLang="en-US" sz="1600" b="0" i="0">
              <a:solidFill>
                <a:srgbClr val="333333"/>
              </a:solidFill>
              <a:latin typeface="Consolas"/>
              <a:ea typeface="Consolas"/>
            </a:endParaRPr>
          </a:p>
          <a:p>
            <a:pPr marL="0" indent="0"/>
            <a:r>
              <a:rPr lang="en-US" altLang="en-US" sz="1600" b="0" i="0">
                <a:solidFill>
                  <a:srgbClr val="333333"/>
                </a:solidFill>
                <a:latin typeface="Consolas"/>
                <a:ea typeface="Consolas"/>
              </a:rPr>
              <a:t>deleted</a:t>
            </a:r>
            <a:r>
              <a:rPr lang="lv-LV" altLang="en-US" sz="1600" b="0" i="0">
                <a:solidFill>
                  <a:srgbClr val="333333"/>
                </a:solidFill>
                <a:latin typeface="Consolas"/>
                <a:ea typeface="Consolas"/>
              </a:rPr>
              <a:t> - </a:t>
            </a:r>
            <a:r>
              <a:rPr lang="en-US" altLang="en-US" sz="1600" b="0" i="0">
                <a:solidFill>
                  <a:srgbClr val="333333"/>
                </a:solidFill>
                <a:latin typeface="Consolas"/>
                <a:ea typeface="Consolas"/>
              </a:rPr>
              <a:t>старые (при</a:t>
            </a:r>
            <a:r>
              <a:rPr lang="lv-LV" altLang="en-US" sz="1600" b="0" i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altLang="en-US" sz="1600" b="0" i="0">
                <a:solidFill>
                  <a:srgbClr val="333333"/>
                </a:solidFill>
                <a:latin typeface="Consolas"/>
                <a:ea typeface="Consolas"/>
              </a:rPr>
              <a:t>UPDATE</a:t>
            </a:r>
            <a:r>
              <a:rPr lang="lv-LV" altLang="en-US" sz="1600" b="0" i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altLang="en-US" sz="1600" b="0" i="0">
                <a:solidFill>
                  <a:srgbClr val="333333"/>
                </a:solidFill>
                <a:latin typeface="Consolas"/>
                <a:ea typeface="Consolas"/>
              </a:rPr>
              <a:t>— старые, при</a:t>
            </a:r>
            <a:r>
              <a:rPr lang="lv-LV" altLang="en-US" sz="1600" b="0" i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altLang="en-US" sz="1600" b="0" i="0">
                <a:solidFill>
                  <a:srgbClr val="333333"/>
                </a:solidFill>
                <a:latin typeface="Consolas"/>
                <a:ea typeface="Consolas"/>
              </a:rPr>
              <a:t>DELETE</a:t>
            </a:r>
            <a:r>
              <a:rPr lang="lv-LV" altLang="en-US" sz="1600" b="0" i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altLang="en-US" sz="1600" b="0" i="0">
                <a:solidFill>
                  <a:srgbClr val="333333"/>
                </a:solidFill>
                <a:latin typeface="Consolas"/>
                <a:ea typeface="Consolas"/>
              </a:rPr>
              <a:t>— удаляемые).</a:t>
            </a:r>
            <a:endParaRPr lang="en-US" altLang="en-US" sz="1600" b="0" i="0">
              <a:solidFill>
                <a:srgbClr val="333333"/>
              </a:solidFill>
              <a:latin typeface="Consolas"/>
              <a:ea typeface="Consolas"/>
            </a:endParaRPr>
          </a:p>
          <a:p>
            <a:pPr marL="0" indent="0"/>
            <a:endParaRPr lang="en-US" altLang="en-US" sz="1600" b="0" i="0">
              <a:solidFill>
                <a:srgbClr val="333333"/>
              </a:solidFill>
              <a:latin typeface="Consolas"/>
              <a:ea typeface="Consolas"/>
            </a:endParaRPr>
          </a:p>
          <a:p>
            <a:pPr marL="0" indent="0"/>
            <a:r>
              <a:rPr lang="en-US" altLang="en-US" sz="1600" b="0" i="0">
                <a:solidFill>
                  <a:srgbClr val="333333"/>
                </a:solidFill>
                <a:latin typeface="Consolas"/>
                <a:ea typeface="Consolas"/>
              </a:rPr>
              <a:t>Аналог RETURNING</a:t>
            </a:r>
            <a:r>
              <a:rPr lang="lv-LV" altLang="en-US" sz="1600" b="0" i="0">
                <a:solidFill>
                  <a:srgbClr val="333333"/>
                </a:solidFill>
                <a:latin typeface="Consolas"/>
                <a:ea typeface="Consolas"/>
              </a:rPr>
              <a:t> </a:t>
            </a:r>
            <a:r>
              <a:rPr lang="en-US" altLang="en-US" sz="1600" b="0" i="0">
                <a:solidFill>
                  <a:srgbClr val="333333"/>
                </a:solidFill>
                <a:latin typeface="Consolas"/>
                <a:ea typeface="Consolas"/>
              </a:rPr>
              <a:t>из PostgreSQL / Oracle, но синтаксис другой.</a:t>
            </a:r>
            <a:endParaRPr lang="en-US" altLang="en-US" sz="1600" b="0" i="0">
              <a:solidFill>
                <a:srgbClr val="333333"/>
              </a:solidFill>
              <a:latin typeface="Consolas"/>
              <a:ea typeface="Consolas"/>
            </a:endParaRPr>
          </a:p>
          <a:p>
            <a:pPr marL="0" indent="0"/>
            <a:endParaRPr lang="en-US" altLang="en-US" sz="1600" b="0" i="0">
              <a:solidFill>
                <a:srgbClr val="333333"/>
              </a:solidFill>
              <a:latin typeface="Consolas"/>
              <a:ea typeface="Consolas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MERGE</a:t>
            </a:r>
            <a:r>
              <a:rPr lang="en-US" altLang="en-US"/>
              <a:t>— атомарный upsert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 lvl="1"/>
            <a:r>
              <a:rPr lang="en-US" altLang="en-US"/>
              <a:t>Соединяет INSERT, UPDATE и DELETE в один атомарный оператор.</a:t>
            </a:r>
            <a:endParaRPr lang="en-US" altLang="en-US"/>
          </a:p>
          <a:p>
            <a:pPr lvl="1"/>
            <a:r>
              <a:rPr lang="en-US" altLang="en-US"/>
              <a:t>Полезно для синхронизации таблиц, но нужно быть осторожным: известны баги с параллелизмом, Microsoft рекомендует использовать с осторожностью.</a:t>
            </a:r>
            <a:endParaRPr lang="en-US" altLang="en-US"/>
          </a:p>
        </p:txBody>
      </p:sp>
      <p:pic>
        <p:nvPicPr>
          <p:cNvPr id="5" name="Picture 4" descr="Снимок экрана — 2026-09-15 в 22.22.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30" y="1308100"/>
            <a:ext cx="7327900" cy="2540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WAITFOR</a:t>
            </a:r>
            <a:r>
              <a:rPr lang="en-US" altLang="en-US"/>
              <a:t> — пауза в выполнении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 lvl="1"/>
            <a:r>
              <a:rPr lang="en-US" altLang="en-US"/>
              <a:t>Не для production-логики (для этого — SQL Server Agent).</a:t>
            </a:r>
            <a:endParaRPr lang="en-US" altLang="en-US"/>
          </a:p>
          <a:p>
            <a:pPr lvl="1"/>
            <a:r>
              <a:rPr lang="en-US" altLang="en-US"/>
              <a:t>Полезно в тестах и отладке.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pic>
        <p:nvPicPr>
          <p:cNvPr id="5" name="Picture 4" descr="Снимок экрана — 2026-09-15 в 22.23.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500" y="1587500"/>
            <a:ext cx="6578600" cy="6477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>
            <a:spLocks noGrp="1"/>
          </p:cNvSpPr>
          <p:nvPr>
            <p:ph sz="quarter" idx="13"/>
            <p:custDataLst>
              <p:tags r:id="rId1"/>
            </p:custDataLst>
          </p:nvPr>
        </p:nvSpPr>
        <p:spPr/>
        <p:txBody>
          <a:bodyPr/>
          <a:p>
            <a:r>
              <a:rPr lang="en-US" altLang="en-US" b="1">
                <a:latin typeface="Helvetica Neue Bold" panose="02000503000000020004" charset="0"/>
                <a:cs typeface="Helvetica Neue Bold" panose="02000503000000020004" charset="0"/>
              </a:rPr>
              <a:t>EXISTS vs IN</a:t>
            </a:r>
            <a:r>
              <a:rPr lang="en-US" altLang="en-US"/>
              <a:t> — производительность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pPr lvl="1"/>
            <a:r>
              <a:rPr lang="en-US" altLang="en-US"/>
              <a:t>EXISTS не возвращает значения, только true/false — эффективнее.</a:t>
            </a:r>
            <a:endParaRPr lang="en-US" altLang="en-US"/>
          </a:p>
          <a:p>
            <a:pPr lvl="1"/>
            <a:r>
              <a:rPr lang="en-US" altLang="en-US"/>
              <a:t>IN с подзапросом, содержащим NULL, может дать неожиданный пустой результат.</a:t>
            </a:r>
            <a:endParaRPr lang="en-US" altLang="en-US"/>
          </a:p>
          <a:p>
            <a:pPr marL="457200" lvl="1" indent="0">
              <a:buNone/>
            </a:pPr>
            <a:endParaRPr lang="en-US" altLang="en-US"/>
          </a:p>
        </p:txBody>
      </p:sp>
      <p:pic>
        <p:nvPicPr>
          <p:cNvPr id="5" name="Picture 4" descr="Снимок экрана — 2026-09-15 в 22.23.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346200"/>
            <a:ext cx="7289800" cy="20828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ru-RU" altLang="en-US"/>
              <a:t>Практическая работа</a:t>
            </a:r>
            <a:endParaRPr lang="ru-RU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Helvetica Neue"/>
        <a:ea typeface=""/>
        <a:cs typeface=""/>
        <a:font script="Jpan" typeface="BIZ UDMincho"/>
        <a:font script="Hang" typeface="맑은 고딕"/>
        <a:font script="Hans" typeface="等线 Light"/>
        <a:font script="Hant" typeface="微軟正黑體"/>
        <a:font script="Arab" typeface="Geeza Pro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Helvetica Neue"/>
        <a:ea typeface=""/>
        <a:cs typeface=""/>
        <a:font script="Jpan" typeface="BIZ UDMincho"/>
        <a:font script="Hang" typeface="맑은 고딕"/>
        <a:font script="Hans" typeface="等线"/>
        <a:font script="Hant" typeface="微軟正黑體"/>
        <a:font script="Arab" typeface="Geeza Pro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7653</Words>
  <Application>WPS Presentation</Application>
  <PresentationFormat>Widescreen</PresentationFormat>
  <Paragraphs>224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3" baseType="lpstr">
      <vt:lpstr>Arial</vt:lpstr>
      <vt:lpstr>SimSun</vt:lpstr>
      <vt:lpstr>Wingdings</vt:lpstr>
      <vt:lpstr>Wingdings</vt:lpstr>
      <vt:lpstr>Helvetica Neue Bold</vt:lpstr>
      <vt:lpstr>Helvetica Neue</vt:lpstr>
      <vt:lpstr>Microsoft YaHei</vt:lpstr>
      <vt:lpstr>汉仪旗黑</vt:lpstr>
      <vt:lpstr>Arial Unicode MS</vt:lpstr>
      <vt:lpstr>Calibri</vt:lpstr>
      <vt:lpstr>ys text</vt:lpstr>
      <vt:lpstr>Thonburi</vt:lpstr>
      <vt:lpstr>Consolas</vt:lpstr>
      <vt:lpstr>宋体-简</vt:lpstr>
      <vt:lpstr>WPS</vt:lpstr>
      <vt:lpstr>Transact‑SQL: ключевые конструкции и приёмы оптимизации производительности</vt:lpstr>
      <vt:lpstr>GO — разделитель пакетов</vt:lpstr>
      <vt:lpstr>PowerPoint 演示文稿</vt:lpstr>
      <vt:lpstr>PowerPoint 演示文稿</vt:lpstr>
      <vt:lpstr>Переменные</vt:lpstr>
      <vt:lpstr>PowerPoint 演示文稿</vt:lpstr>
      <vt:lpstr>Системные переменные @@</vt:lpstr>
      <vt:lpstr>Ветвление IF...ELSE</vt:lpstr>
      <vt:lpstr>PowerPoint 演示文稿</vt:lpstr>
      <vt:lpstr>Цикл WHILE</vt:lpstr>
      <vt:lpstr>PowerPoint 演示文稿</vt:lpstr>
      <vt:lpstr>PowerPoint 演示文稿</vt:lpstr>
      <vt:lpstr>Обработка ошибок TRY...CATCH</vt:lpstr>
      <vt:lpstr>PowerPoint 演示文稿</vt:lpstr>
      <vt:lpstr>Индексы</vt:lpstr>
      <vt:lpstr>Индексы — основа производительности</vt:lpstr>
      <vt:lpstr>PowerPoint 演示文稿</vt:lpstr>
      <vt:lpstr>PowerPoint 演示文稿</vt:lpstr>
      <vt:lpstr>PowerPoint 演示文稿</vt:lpstr>
      <vt:lpstr>PowerPoint 演示文稿</vt:lpstr>
      <vt:lpstr>Обслуживание индексов</vt:lpstr>
      <vt:lpstr>PowerPoint 演示文稿</vt:lpstr>
      <vt:lpstr>Нюансы T-SQL, которые стоит знать</vt:lpstr>
      <vt:lpstr>PowerPoint 演示文稿</vt:lpstr>
      <vt:lpstr>PowerPoint 演示文稿</vt:lpstr>
      <vt:lpstr>PowerPoint 演示文稿</vt:lpstr>
      <vt:lpstr>PowerPoint 演示文稿</vt:lpstr>
      <vt:lpstr>Практическая работа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Transact‑SQL: ключевые конструкции и приёмы оптимизации производительности</dc:title>
  <dc:creator>oksanaroslova</dc:creator>
  <cp:lastModifiedBy>Oksana Roslova</cp:lastModifiedBy>
  <cp:revision>88</cp:revision>
  <dcterms:created xsi:type="dcterms:W3CDTF">2026-09-16T07:32:23Z</dcterms:created>
  <dcterms:modified xsi:type="dcterms:W3CDTF">2026-09-16T07:32:23Z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1033-12.1.26050.26050</vt:lpwstr>
  </property>
  <property fmtid="{D5CDD505-2E9C-101B-9397-08002B2CF9AE}" pid="3" name="ICV">
    <vt:lpwstr>1E4096FFE35E5DBF5190A96A32CD1B11_41</vt:lpwstr>
  </property>
</Properties>
</file>