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  <p:sldMasterId id="2147483661" r:id="rId3"/>
  </p:sld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9" r:id="rId15"/>
    <p:sldId id="267" r:id="rId16"/>
    <p:sldId id="268" r:id="rId17"/>
    <p:sldId id="270" r:id="rId18"/>
    <p:sldId id="271" r:id="rId19"/>
    <p:sldId id="272" r:id="rId20"/>
    <p:sldId id="273" r:id="rId21"/>
    <p:sldId id="280" r:id="rId22"/>
    <p:sldId id="275" r:id="rId23"/>
    <p:sldId id="276" r:id="rId24"/>
    <p:sldId id="277" r:id="rId25"/>
    <p:sldId id="278" r:id="rId26"/>
    <p:sldId id="279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90" r:id="rId36"/>
    <p:sldId id="289" r:id="rId37"/>
  </p:sldIdLst>
  <p:sldSz cx="12192000" cy="6858000"/>
  <p:notesSz cx="6858000" cy="9144000"/>
  <p:embeddedFontLst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3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38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0" Type="http://schemas.openxmlformats.org/officeDocument/2006/relationships/tableStyles" Target="tableStyles.xml"/><Relationship Id="rId4" Type="http://schemas.openxmlformats.org/officeDocument/2006/relationships/slide" Target="slides/slide1.xml"/><Relationship Id="rId39" Type="http://schemas.openxmlformats.org/officeDocument/2006/relationships/viewProps" Target="viewProps.xml"/><Relationship Id="rId38" Type="http://schemas.openxmlformats.org/officeDocument/2006/relationships/presProps" Target="presProps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6" Type="http://schemas.openxmlformats.org/officeDocument/2006/relationships/tags" Target="../tags/tag67.xml"/><Relationship Id="rId5" Type="http://schemas.openxmlformats.org/officeDocument/2006/relationships/tags" Target="../tags/tag66.xml"/><Relationship Id="rId4" Type="http://schemas.openxmlformats.org/officeDocument/2006/relationships/tags" Target="../tags/tag65.xml"/><Relationship Id="rId3" Type="http://schemas.openxmlformats.org/officeDocument/2006/relationships/tags" Target="../tags/tag64.xml"/><Relationship Id="rId2" Type="http://schemas.openxmlformats.org/officeDocument/2006/relationships/tags" Target="../tags/tag63.xml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6" Type="http://schemas.openxmlformats.org/officeDocument/2006/relationships/tags" Target="../tags/tag72.xml"/><Relationship Id="rId5" Type="http://schemas.openxmlformats.org/officeDocument/2006/relationships/tags" Target="../tags/tag71.xml"/><Relationship Id="rId4" Type="http://schemas.openxmlformats.org/officeDocument/2006/relationships/tags" Target="../tags/tag70.xml"/><Relationship Id="rId3" Type="http://schemas.openxmlformats.org/officeDocument/2006/relationships/tags" Target="../tags/tag69.xml"/><Relationship Id="rId2" Type="http://schemas.openxmlformats.org/officeDocument/2006/relationships/tags" Target="../tags/tag68.xml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6" Type="http://schemas.openxmlformats.org/officeDocument/2006/relationships/tags" Target="../tags/tag77.xml"/><Relationship Id="rId5" Type="http://schemas.openxmlformats.org/officeDocument/2006/relationships/tags" Target="../tags/tag76.xml"/><Relationship Id="rId4" Type="http://schemas.openxmlformats.org/officeDocument/2006/relationships/tags" Target="../tags/tag75.xml"/><Relationship Id="rId3" Type="http://schemas.openxmlformats.org/officeDocument/2006/relationships/tags" Target="../tags/tag74.xml"/><Relationship Id="rId2" Type="http://schemas.openxmlformats.org/officeDocument/2006/relationships/tags" Target="../tags/tag73.xml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7" Type="http://schemas.openxmlformats.org/officeDocument/2006/relationships/tags" Target="../tags/tag83.xml"/><Relationship Id="rId6" Type="http://schemas.openxmlformats.org/officeDocument/2006/relationships/tags" Target="../tags/tag82.xml"/><Relationship Id="rId5" Type="http://schemas.openxmlformats.org/officeDocument/2006/relationships/tags" Target="../tags/tag81.xml"/><Relationship Id="rId4" Type="http://schemas.openxmlformats.org/officeDocument/2006/relationships/tags" Target="../tags/tag80.xml"/><Relationship Id="rId3" Type="http://schemas.openxmlformats.org/officeDocument/2006/relationships/tags" Target="../tags/tag79.xml"/><Relationship Id="rId2" Type="http://schemas.openxmlformats.org/officeDocument/2006/relationships/tags" Target="../tags/tag78.xml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9" Type="http://schemas.openxmlformats.org/officeDocument/2006/relationships/tags" Target="../tags/tag91.xml"/><Relationship Id="rId8" Type="http://schemas.openxmlformats.org/officeDocument/2006/relationships/tags" Target="../tags/tag90.xml"/><Relationship Id="rId7" Type="http://schemas.openxmlformats.org/officeDocument/2006/relationships/tags" Target="../tags/tag89.xml"/><Relationship Id="rId6" Type="http://schemas.openxmlformats.org/officeDocument/2006/relationships/tags" Target="../tags/tag88.xml"/><Relationship Id="rId5" Type="http://schemas.openxmlformats.org/officeDocument/2006/relationships/tags" Target="../tags/tag87.xml"/><Relationship Id="rId4" Type="http://schemas.openxmlformats.org/officeDocument/2006/relationships/tags" Target="../tags/tag86.xml"/><Relationship Id="rId3" Type="http://schemas.openxmlformats.org/officeDocument/2006/relationships/tags" Target="../tags/tag85.xml"/><Relationship Id="rId2" Type="http://schemas.openxmlformats.org/officeDocument/2006/relationships/tags" Target="../tags/tag84.xml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5" Type="http://schemas.openxmlformats.org/officeDocument/2006/relationships/tags" Target="../tags/tag95.xml"/><Relationship Id="rId4" Type="http://schemas.openxmlformats.org/officeDocument/2006/relationships/tags" Target="../tags/tag94.xml"/><Relationship Id="rId3" Type="http://schemas.openxmlformats.org/officeDocument/2006/relationships/tags" Target="../tags/tag93.xml"/><Relationship Id="rId2" Type="http://schemas.openxmlformats.org/officeDocument/2006/relationships/tags" Target="../tags/tag92.xml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4" Type="http://schemas.openxmlformats.org/officeDocument/2006/relationships/tags" Target="../tags/tag98.xml"/><Relationship Id="rId3" Type="http://schemas.openxmlformats.org/officeDocument/2006/relationships/tags" Target="../tags/tag97.xml"/><Relationship Id="rId2" Type="http://schemas.openxmlformats.org/officeDocument/2006/relationships/tags" Target="../tags/tag96.xml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7" Type="http://schemas.openxmlformats.org/officeDocument/2006/relationships/tags" Target="../tags/tag104.xml"/><Relationship Id="rId6" Type="http://schemas.openxmlformats.org/officeDocument/2006/relationships/tags" Target="../tags/tag103.xml"/><Relationship Id="rId5" Type="http://schemas.openxmlformats.org/officeDocument/2006/relationships/tags" Target="../tags/tag102.xml"/><Relationship Id="rId4" Type="http://schemas.openxmlformats.org/officeDocument/2006/relationships/tags" Target="../tags/tag101.xml"/><Relationship Id="rId3" Type="http://schemas.openxmlformats.org/officeDocument/2006/relationships/tags" Target="../tags/tag100.xml"/><Relationship Id="rId2" Type="http://schemas.openxmlformats.org/officeDocument/2006/relationships/tags" Target="../tags/tag99.xml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6" Type="http://schemas.openxmlformats.org/officeDocument/2006/relationships/tags" Target="../tags/tag109.xml"/><Relationship Id="rId5" Type="http://schemas.openxmlformats.org/officeDocument/2006/relationships/tags" Target="../tags/tag108.xml"/><Relationship Id="rId4" Type="http://schemas.openxmlformats.org/officeDocument/2006/relationships/tags" Target="../tags/tag107.xml"/><Relationship Id="rId3" Type="http://schemas.openxmlformats.org/officeDocument/2006/relationships/tags" Target="../tags/tag106.xml"/><Relationship Id="rId2" Type="http://schemas.openxmlformats.org/officeDocument/2006/relationships/tags" Target="../tags/tag105.xml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5" Type="http://schemas.openxmlformats.org/officeDocument/2006/relationships/tags" Target="../tags/tag113.xml"/><Relationship Id="rId4" Type="http://schemas.openxmlformats.org/officeDocument/2006/relationships/tags" Target="../tags/tag112.xml"/><Relationship Id="rId3" Type="http://schemas.openxmlformats.org/officeDocument/2006/relationships/tags" Target="../tags/tag111.xml"/><Relationship Id="rId2" Type="http://schemas.openxmlformats.org/officeDocument/2006/relationships/tags" Target="../tags/tag110.xml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6" Type="http://schemas.openxmlformats.org/officeDocument/2006/relationships/tags" Target="../tags/tag118.xml"/><Relationship Id="rId5" Type="http://schemas.openxmlformats.org/officeDocument/2006/relationships/tags" Target="../tags/tag117.xml"/><Relationship Id="rId4" Type="http://schemas.openxmlformats.org/officeDocument/2006/relationships/tags" Target="../tags/tag116.xml"/><Relationship Id="rId3" Type="http://schemas.openxmlformats.org/officeDocument/2006/relationships/tags" Target="../tags/tag115.xml"/><Relationship Id="rId2" Type="http://schemas.openxmlformats.org/officeDocument/2006/relationships/tags" Target="../tags/tag114.xml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US" dirty="0"/>
          </a:p>
        </p:txBody>
      </p:sp>
      <p:sp>
        <p:nvSpPr>
          <p:cNvPr id="16" name="Date Placeholder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en-US" dirty="0"/>
              <a:t>Click to edit title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text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text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text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en-US" smtClean="0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en-US" smtClean="0"/>
            </a:fld>
            <a:endParaRPr lang="en-US"/>
          </a:p>
        </p:txBody>
      </p:sp>
      <p:sp>
        <p:nvSpPr>
          <p:cNvPr id="9" name="Title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en-US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en-US" smtClean="0"/>
              <a:t>Click to edit title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s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en-US" smtClean="0"/>
              <a:t>Click to edit title</a:t>
            </a:r>
            <a:endParaRPr lang="en-US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US" dirty="0"/>
          </a:p>
        </p:txBody>
      </p:sp>
      <p:sp>
        <p:nvSpPr>
          <p:cNvPr id="16" name="Date Placeholder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en-US" dirty="0"/>
              <a:t>Click to edit title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text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text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text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en-US" smtClean="0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en-US" smtClean="0"/>
            </a:fld>
            <a:endParaRPr lang="en-US"/>
          </a:p>
        </p:txBody>
      </p:sp>
      <p:sp>
        <p:nvSpPr>
          <p:cNvPr id="9" name="Title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en-US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en-US" smtClean="0"/>
              <a:t>Click to edit title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s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en-US" smtClean="0"/>
              <a:t>Click to edit title</a:t>
            </a:r>
            <a:endParaRPr lang="en-US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9" Type="http://schemas.openxmlformats.org/officeDocument/2006/relationships/theme" Target="../theme/theme1.xml"/><Relationship Id="rId18" Type="http://schemas.openxmlformats.org/officeDocument/2006/relationships/tags" Target="../tags/tag62.xml"/><Relationship Id="rId17" Type="http://schemas.openxmlformats.org/officeDocument/2006/relationships/tags" Target="../tags/tag61.xml"/><Relationship Id="rId16" Type="http://schemas.openxmlformats.org/officeDocument/2006/relationships/tags" Target="../tags/tag60.xml"/><Relationship Id="rId15" Type="http://schemas.openxmlformats.org/officeDocument/2006/relationships/tags" Target="../tags/tag59.xml"/><Relationship Id="rId14" Type="http://schemas.openxmlformats.org/officeDocument/2006/relationships/tags" Target="../tags/tag58.xml"/><Relationship Id="rId13" Type="http://schemas.openxmlformats.org/officeDocument/2006/relationships/tags" Target="../tags/tag57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1.xml"/><Relationship Id="rId8" Type="http://schemas.openxmlformats.org/officeDocument/2006/relationships/slideLayout" Target="../slideLayouts/slideLayout20.xml"/><Relationship Id="rId7" Type="http://schemas.openxmlformats.org/officeDocument/2006/relationships/slideLayout" Target="../slideLayouts/slideLayout19.xml"/><Relationship Id="rId6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6.xml"/><Relationship Id="rId3" Type="http://schemas.openxmlformats.org/officeDocument/2006/relationships/slideLayout" Target="../slideLayouts/slideLayout15.xml"/><Relationship Id="rId2" Type="http://schemas.openxmlformats.org/officeDocument/2006/relationships/slideLayout" Target="../slideLayouts/slideLayout14.xml"/><Relationship Id="rId19" Type="http://schemas.openxmlformats.org/officeDocument/2006/relationships/theme" Target="../theme/theme2.xml"/><Relationship Id="rId18" Type="http://schemas.openxmlformats.org/officeDocument/2006/relationships/tags" Target="../tags/tag124.xml"/><Relationship Id="rId17" Type="http://schemas.openxmlformats.org/officeDocument/2006/relationships/tags" Target="../tags/tag123.xml"/><Relationship Id="rId16" Type="http://schemas.openxmlformats.org/officeDocument/2006/relationships/tags" Target="../tags/tag122.xml"/><Relationship Id="rId15" Type="http://schemas.openxmlformats.org/officeDocument/2006/relationships/tags" Target="../tags/tag121.xml"/><Relationship Id="rId14" Type="http://schemas.openxmlformats.org/officeDocument/2006/relationships/tags" Target="../tags/tag120.xml"/><Relationship Id="rId13" Type="http://schemas.openxmlformats.org/officeDocument/2006/relationships/tags" Target="../tags/tag119.xml"/><Relationship Id="rId12" Type="http://schemas.openxmlformats.org/officeDocument/2006/relationships/slideLayout" Target="../slideLayouts/slideLayout24.xml"/><Relationship Id="rId11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2.xml"/><Relationship Id="rId1" Type="http://schemas.openxmlformats.org/officeDocument/2006/relationships/slideLayout" Target="../slideLayouts/slideLayout1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  <p:custDataLst>
              <p:tags r:id="rId13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  <p:custDataLst>
              <p:tags r:id="rId14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  <p:custDataLst>
              <p:tags r:id="rId15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  <p:custDataLst>
              <p:tags r:id="rId16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  <p:custDataLst>
              <p:tags r:id="rId17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  <p:custDataLst>
      <p:tags r:id="rId18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9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9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  <p:custDataLst>
              <p:tags r:id="rId13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  <p:custDataLst>
              <p:tags r:id="rId14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  <p:custDataLst>
              <p:tags r:id="rId15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  <p:custDataLst>
              <p:tags r:id="rId16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  <p:custDataLst>
              <p:tags r:id="rId17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  <p:custDataLst>
      <p:tags r:id="rId18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9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9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127.xml"/><Relationship Id="rId2" Type="http://schemas.openxmlformats.org/officeDocument/2006/relationships/tags" Target="../tags/tag126.xml"/><Relationship Id="rId1" Type="http://schemas.openxmlformats.org/officeDocument/2006/relationships/tags" Target="../tags/tag125.xml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130.xml"/><Relationship Id="rId2" Type="http://schemas.openxmlformats.org/officeDocument/2006/relationships/tags" Target="../tags/tag129.xml"/><Relationship Id="rId1" Type="http://schemas.openxmlformats.org/officeDocument/2006/relationships/tags" Target="../tags/tag128.xml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133.xml"/><Relationship Id="rId2" Type="http://schemas.openxmlformats.org/officeDocument/2006/relationships/tags" Target="../tags/tag132.xml"/><Relationship Id="rId1" Type="http://schemas.openxmlformats.org/officeDocument/2006/relationships/tags" Target="../tags/tag131.xml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136.xml"/><Relationship Id="rId2" Type="http://schemas.openxmlformats.org/officeDocument/2006/relationships/tags" Target="../tags/tag135.xml"/><Relationship Id="rId1" Type="http://schemas.openxmlformats.org/officeDocument/2006/relationships/tags" Target="../tags/tag13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0.xml"/><Relationship Id="rId2" Type="http://schemas.openxmlformats.org/officeDocument/2006/relationships/tags" Target="../tags/tag138.xml"/><Relationship Id="rId1" Type="http://schemas.openxmlformats.org/officeDocument/2006/relationships/tags" Target="../tags/tag137.xml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141.xml"/><Relationship Id="rId2" Type="http://schemas.openxmlformats.org/officeDocument/2006/relationships/tags" Target="../tags/tag140.xml"/><Relationship Id="rId1" Type="http://schemas.openxmlformats.org/officeDocument/2006/relationships/tags" Target="../tags/tag13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0.xml"/><Relationship Id="rId2" Type="http://schemas.openxmlformats.org/officeDocument/2006/relationships/tags" Target="../tags/tag143.xml"/><Relationship Id="rId1" Type="http://schemas.openxmlformats.org/officeDocument/2006/relationships/tags" Target="../tags/tag142.xml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146.xml"/><Relationship Id="rId2" Type="http://schemas.openxmlformats.org/officeDocument/2006/relationships/tags" Target="../tags/tag145.xml"/><Relationship Id="rId1" Type="http://schemas.openxmlformats.org/officeDocument/2006/relationships/tags" Target="../tags/tag144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149.xml"/><Relationship Id="rId2" Type="http://schemas.openxmlformats.org/officeDocument/2006/relationships/tags" Target="../tags/tag148.xml"/><Relationship Id="rId1" Type="http://schemas.openxmlformats.org/officeDocument/2006/relationships/tags" Target="../tags/tag147.xml"/></Relationships>
</file>

<file path=ppt/slides/_rels/slide10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152.xml"/><Relationship Id="rId3" Type="http://schemas.openxmlformats.org/officeDocument/2006/relationships/image" Target="../media/image1.png"/><Relationship Id="rId2" Type="http://schemas.openxmlformats.org/officeDocument/2006/relationships/tags" Target="../tags/tag151.xml"/><Relationship Id="rId1" Type="http://schemas.openxmlformats.org/officeDocument/2006/relationships/tags" Target="../tags/tag150.xml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155.xml"/><Relationship Id="rId2" Type="http://schemas.openxmlformats.org/officeDocument/2006/relationships/tags" Target="../tags/tag154.xml"/><Relationship Id="rId1" Type="http://schemas.openxmlformats.org/officeDocument/2006/relationships/tags" Target="../tags/tag153.xml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158.xml"/><Relationship Id="rId2" Type="http://schemas.openxmlformats.org/officeDocument/2006/relationships/tags" Target="../tags/tag157.xml"/><Relationship Id="rId1" Type="http://schemas.openxmlformats.org/officeDocument/2006/relationships/tags" Target="../tags/tag15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0.xml"/><Relationship Id="rId2" Type="http://schemas.openxmlformats.org/officeDocument/2006/relationships/tags" Target="../tags/tag160.xml"/><Relationship Id="rId1" Type="http://schemas.openxmlformats.org/officeDocument/2006/relationships/tags" Target="../tags/tag159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0.xml"/><Relationship Id="rId2" Type="http://schemas.openxmlformats.org/officeDocument/2006/relationships/tags" Target="../tags/tag162.xml"/><Relationship Id="rId1" Type="http://schemas.openxmlformats.org/officeDocument/2006/relationships/tags" Target="../tags/tag161.xml"/></Relationships>
</file>

<file path=ppt/slides/_rels/slide1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165.xml"/><Relationship Id="rId3" Type="http://schemas.openxmlformats.org/officeDocument/2006/relationships/image" Target="../media/image2.png"/><Relationship Id="rId2" Type="http://schemas.openxmlformats.org/officeDocument/2006/relationships/tags" Target="../tags/tag164.xml"/><Relationship Id="rId1" Type="http://schemas.openxmlformats.org/officeDocument/2006/relationships/tags" Target="../tags/tag163.xml"/></Relationships>
</file>

<file path=ppt/slides/_rels/slide1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168.xml"/><Relationship Id="rId2" Type="http://schemas.openxmlformats.org/officeDocument/2006/relationships/tags" Target="../tags/tag167.xml"/><Relationship Id="rId1" Type="http://schemas.openxmlformats.org/officeDocument/2006/relationships/tags" Target="../tags/tag166.xml"/></Relationships>
</file>

<file path=ppt/slides/_rels/slide17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171.xml"/><Relationship Id="rId3" Type="http://schemas.openxmlformats.org/officeDocument/2006/relationships/image" Target="../media/image3.png"/><Relationship Id="rId2" Type="http://schemas.openxmlformats.org/officeDocument/2006/relationships/tags" Target="../tags/tag170.xml"/><Relationship Id="rId1" Type="http://schemas.openxmlformats.org/officeDocument/2006/relationships/tags" Target="../tags/tag169.xml"/></Relationships>
</file>

<file path=ppt/slides/_rels/slide1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174.xml"/><Relationship Id="rId2" Type="http://schemas.openxmlformats.org/officeDocument/2006/relationships/tags" Target="../tags/tag173.xml"/><Relationship Id="rId1" Type="http://schemas.openxmlformats.org/officeDocument/2006/relationships/tags" Target="../tags/tag17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2.xml"/><Relationship Id="rId2" Type="http://schemas.openxmlformats.org/officeDocument/2006/relationships/tags" Target="../tags/tag176.xml"/><Relationship Id="rId1" Type="http://schemas.openxmlformats.org/officeDocument/2006/relationships/tags" Target="../tags/tag175.xml"/></Relationships>
</file>

<file path=ppt/slides/_rels/slide20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179.xml"/><Relationship Id="rId3" Type="http://schemas.openxmlformats.org/officeDocument/2006/relationships/image" Target="../media/image4.png"/><Relationship Id="rId2" Type="http://schemas.openxmlformats.org/officeDocument/2006/relationships/tags" Target="../tags/tag178.xml"/><Relationship Id="rId1" Type="http://schemas.openxmlformats.org/officeDocument/2006/relationships/tags" Target="../tags/tag177.xml"/></Relationships>
</file>

<file path=ppt/slides/_rels/slide2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182.xml"/><Relationship Id="rId2" Type="http://schemas.openxmlformats.org/officeDocument/2006/relationships/tags" Target="../tags/tag181.xml"/><Relationship Id="rId1" Type="http://schemas.openxmlformats.org/officeDocument/2006/relationships/tags" Target="../tags/tag180.xml"/></Relationships>
</file>

<file path=ppt/slides/_rels/slide2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185.xml"/><Relationship Id="rId3" Type="http://schemas.openxmlformats.org/officeDocument/2006/relationships/image" Target="../media/image5.png"/><Relationship Id="rId2" Type="http://schemas.openxmlformats.org/officeDocument/2006/relationships/tags" Target="../tags/tag184.xml"/><Relationship Id="rId1" Type="http://schemas.openxmlformats.org/officeDocument/2006/relationships/tags" Target="../tags/tag183.xml"/></Relationships>
</file>

<file path=ppt/slides/_rels/slide2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188.xml"/><Relationship Id="rId2" Type="http://schemas.openxmlformats.org/officeDocument/2006/relationships/tags" Target="../tags/tag187.xml"/><Relationship Id="rId1" Type="http://schemas.openxmlformats.org/officeDocument/2006/relationships/tags" Target="../tags/tag186.xml"/></Relationships>
</file>

<file path=ppt/slides/_rels/slide2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191.xml"/><Relationship Id="rId3" Type="http://schemas.openxmlformats.org/officeDocument/2006/relationships/image" Target="../media/image6.png"/><Relationship Id="rId2" Type="http://schemas.openxmlformats.org/officeDocument/2006/relationships/tags" Target="../tags/tag190.xml"/><Relationship Id="rId1" Type="http://schemas.openxmlformats.org/officeDocument/2006/relationships/tags" Target="../tags/tag189.xml"/></Relationships>
</file>

<file path=ppt/slides/_rels/slide2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194.xml"/><Relationship Id="rId2" Type="http://schemas.openxmlformats.org/officeDocument/2006/relationships/tags" Target="../tags/tag193.xml"/><Relationship Id="rId1" Type="http://schemas.openxmlformats.org/officeDocument/2006/relationships/tags" Target="../tags/tag192.xml"/></Relationships>
</file>

<file path=ppt/slides/_rels/slide2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197.xml"/><Relationship Id="rId3" Type="http://schemas.openxmlformats.org/officeDocument/2006/relationships/image" Target="../media/image7.png"/><Relationship Id="rId2" Type="http://schemas.openxmlformats.org/officeDocument/2006/relationships/tags" Target="../tags/tag196.xml"/><Relationship Id="rId1" Type="http://schemas.openxmlformats.org/officeDocument/2006/relationships/tags" Target="../tags/tag195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0.xml"/><Relationship Id="rId2" Type="http://schemas.openxmlformats.org/officeDocument/2006/relationships/tags" Target="../tags/tag199.xml"/><Relationship Id="rId1" Type="http://schemas.openxmlformats.org/officeDocument/2006/relationships/tags" Target="../tags/tag198.xml"/></Relationships>
</file>

<file path=ppt/slides/_rels/slide2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202.xml"/><Relationship Id="rId2" Type="http://schemas.openxmlformats.org/officeDocument/2006/relationships/tags" Target="../tags/tag201.xml"/><Relationship Id="rId1" Type="http://schemas.openxmlformats.org/officeDocument/2006/relationships/tags" Target="../tags/tag200.xml"/></Relationships>
</file>

<file path=ppt/slides/_rels/slide2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205.xml"/><Relationship Id="rId2" Type="http://schemas.openxmlformats.org/officeDocument/2006/relationships/tags" Target="../tags/tag204.xml"/><Relationship Id="rId1" Type="http://schemas.openxmlformats.org/officeDocument/2006/relationships/tags" Target="../tags/tag203.xml"/></Relationships>
</file>

<file path=ppt/slides/_rels/slide3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208.xml"/><Relationship Id="rId2" Type="http://schemas.openxmlformats.org/officeDocument/2006/relationships/tags" Target="../tags/tag207.xml"/><Relationship Id="rId1" Type="http://schemas.openxmlformats.org/officeDocument/2006/relationships/tags" Target="../tags/tag206.xml"/></Relationships>
</file>

<file path=ppt/slides/_rels/slide3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211.xml"/><Relationship Id="rId2" Type="http://schemas.openxmlformats.org/officeDocument/2006/relationships/tags" Target="../tags/tag210.xml"/><Relationship Id="rId1" Type="http://schemas.openxmlformats.org/officeDocument/2006/relationships/tags" Target="../tags/tag209.xml"/></Relationships>
</file>

<file path=ppt/slides/_rels/slide3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214.xml"/><Relationship Id="rId2" Type="http://schemas.openxmlformats.org/officeDocument/2006/relationships/tags" Target="../tags/tag213.xml"/><Relationship Id="rId1" Type="http://schemas.openxmlformats.org/officeDocument/2006/relationships/tags" Target="../tags/tag21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216.xml"/><Relationship Id="rId1" Type="http://schemas.openxmlformats.org/officeDocument/2006/relationships/tags" Target="../tags/tag215.xml"/></Relationships>
</file>

<file path=ppt/slides/_rels/slide3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219.xml"/><Relationship Id="rId2" Type="http://schemas.openxmlformats.org/officeDocument/2006/relationships/tags" Target="../tags/tag218.xml"/><Relationship Id="rId1" Type="http://schemas.openxmlformats.org/officeDocument/2006/relationships/tags" Target="../tags/tag2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p>
            <a:r>
              <a:rPr lang="en-US" altLang="en-US"/>
              <a:t>Архитектура систем хранения</a:t>
            </a:r>
            <a:endParaRPr lang="en-US" alt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/>
        <p:txBody>
          <a:bodyPr/>
          <a:p>
            <a:r>
              <a:rPr lang="en-US" altLang="en-US"/>
              <a:t>Базовые модели данных, критерии выбора, типовые комбинации</a:t>
            </a:r>
            <a:endParaRPr lang="en-US" altLang="en-US"/>
          </a:p>
        </p:txBody>
      </p:sp>
    </p:spTree>
    <p:custDataLst>
      <p:tags r:id="rId3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rmAutofit fontScale="90000"/>
          </a:bodyPr>
          <a:p>
            <a:r>
              <a:rPr lang="ru-RU" altLang="en-US"/>
              <a:t>К</a:t>
            </a:r>
            <a:r>
              <a:rPr lang="en-US" altLang="en-US"/>
              <a:t>лассификация хранилищ и принципы выбора</a:t>
            </a:r>
            <a:endParaRPr lang="en-US" altLang="en-US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pPr marL="0" indent="0">
              <a:buNone/>
            </a:pPr>
            <a:r>
              <a:rPr lang="en-US" altLang="en-US" b="1" u="sng">
                <a:latin typeface="Helvetica Neue Bold" panose="02000503000000020004" charset="0"/>
                <a:cs typeface="Helvetica Neue Bold" panose="02000503000000020004" charset="0"/>
              </a:rPr>
              <a:t>Цель:</a:t>
            </a:r>
            <a:r>
              <a:rPr lang="en-US" altLang="en-US" u="sng"/>
              <a:t> сформировать системный взгляд на выбор СУБД под тип нагрузки</a:t>
            </a:r>
            <a:endParaRPr lang="en-US" altLang="en-US" u="sng"/>
          </a:p>
          <a:p>
            <a:pPr marL="0" indent="457200">
              <a:buNone/>
            </a:pPr>
            <a:r>
              <a:rPr lang="en-US" altLang="en-US"/>
              <a:t>Сегодня мы не будем разбирать синтаксис запросов. Мы разберём, почему нельзя “одной базой решить всё”, как классифицируют хранилища по задачам и как выбирать их осознанно. Это фундамент для любой системы: от простого интернет‑магазина до распределённой аналитики</a:t>
            </a:r>
            <a:r>
              <a:rPr lang="ru-RU" altLang="en-US"/>
              <a:t>.</a:t>
            </a:r>
            <a:endParaRPr lang="ru-RU" altLang="en-US"/>
          </a:p>
          <a:p>
            <a:pPr marL="0" indent="457200">
              <a:buNone/>
            </a:pPr>
            <a:r>
              <a:rPr lang="en-US" altLang="en-US"/>
              <a:t>Пример: В интернет‑магазине используют PostgreSQL (транзакции), Redis (сессии), Elasticsearch (поиск), ClickHouse (аналитика).</a:t>
            </a:r>
            <a:endParaRPr lang="en-US" altLang="en-US"/>
          </a:p>
          <a:p>
            <a:pPr marL="0" indent="457200">
              <a:buNone/>
            </a:pPr>
            <a:r>
              <a:rPr lang="en-US" altLang="en-US"/>
              <a:t>Если всё хранить в одной базе, система либо станет медленной, либо дорогой, либо ненадёжной.</a:t>
            </a:r>
            <a:endParaRPr lang="en-US" altLang="en-US"/>
          </a:p>
        </p:txBody>
      </p:sp>
    </p:spTree>
    <p:custDataLst>
      <p:tags r:id="rId3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en-US"/>
              <a:t>Зачем столько видов хранилищ</a:t>
            </a:r>
            <a:endParaRPr lang="en-US" altLang="en-US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08330" y="1394460"/>
            <a:ext cx="10968990" cy="5034915"/>
          </a:xfrm>
        </p:spPr>
        <p:txBody>
          <a:bodyPr>
            <a:normAutofit fontScale="90000"/>
          </a:bodyPr>
          <a:p>
            <a:pPr marL="0" indent="0">
              <a:buNone/>
            </a:pPr>
            <a:r>
              <a:rPr lang="en-US" altLang="en-US" u="sng"/>
              <a:t>Разные задачи — разные оптимизации</a:t>
            </a:r>
            <a:endParaRPr lang="en-US" altLang="en-US" u="sng"/>
          </a:p>
          <a:p>
            <a:r>
              <a:rPr lang="en-US" altLang="en-US"/>
              <a:t>Разные типы данных → разные требования</a:t>
            </a:r>
            <a:endParaRPr lang="en-US" altLang="en-US"/>
          </a:p>
          <a:p>
            <a:r>
              <a:rPr lang="en-US" altLang="en-US"/>
              <a:t>Разные операции → разные оптимизации</a:t>
            </a:r>
            <a:endParaRPr lang="en-US" altLang="en-US"/>
          </a:p>
          <a:p>
            <a:r>
              <a:rPr lang="en-US" altLang="en-US"/>
              <a:t>Нельзя «одной базой решить всё»</a:t>
            </a:r>
            <a:endParaRPr lang="en-US" altLang="en-US"/>
          </a:p>
          <a:p>
            <a:pPr marL="0" indent="457200">
              <a:buNone/>
            </a:pPr>
            <a:r>
              <a:rPr lang="en-US" altLang="en-US"/>
              <a:t>Каждая СУБД оптимизирована под конкретный профиль нагрузки. Реляционная база отлично держит транзакции, но плохо считает агрегаты по миллиардам строк. Elasticsearch быстро ищет по тексту, но не годится для финансовых проводок.</a:t>
            </a:r>
            <a:endParaRPr lang="en-US" altLang="en-US"/>
          </a:p>
          <a:p>
            <a:pPr marL="0" indent="457200">
              <a:buNone/>
            </a:pPr>
            <a:r>
              <a:rPr lang="en-US" altLang="en-US"/>
              <a:t>Пример: PostgreSQL для заказов (ACID), Redis для сессий (скорость), Elasticsearch для поиска (релевантность), ClickHouse для отчётов (агрегаты).</a:t>
            </a:r>
            <a:endParaRPr lang="en-US" altLang="en-US"/>
          </a:p>
          <a:p>
            <a:pPr marL="0" indent="457200">
              <a:buNone/>
            </a:pPr>
            <a:r>
              <a:rPr lang="en-US" altLang="en-US"/>
              <a:t>Комбинация решает разные задачи в своих «родных» инструментах. Это дешевле и быстрее, чем пытаться «запихнуть» всё в одну СУБД.</a:t>
            </a:r>
            <a:endParaRPr lang="en-US" altLang="en-US"/>
          </a:p>
          <a:p>
            <a:pPr marL="0" lvl="0" indent="457200">
              <a:buNone/>
            </a:pPr>
            <a:r>
              <a:rPr lang="en-US" altLang="ru-RU" sz="1400"/>
              <a:t>* A - Atomacity (</a:t>
            </a:r>
            <a:r>
              <a:rPr lang="ru-RU" altLang="en-US" sz="1400"/>
              <a:t>Атомарность), </a:t>
            </a:r>
            <a:r>
              <a:rPr lang="en-US" altLang="ru-RU" sz="1400"/>
              <a:t>C - Consistency (</a:t>
            </a:r>
            <a:r>
              <a:rPr lang="ru-RU" altLang="en-US" sz="1400"/>
              <a:t>Согласованность), </a:t>
            </a:r>
            <a:r>
              <a:rPr lang="en-US" altLang="ru-RU" sz="1400"/>
              <a:t>I - Isolation (</a:t>
            </a:r>
            <a:r>
              <a:rPr lang="ru-RU" altLang="en-US" sz="1400"/>
              <a:t>Изолированность), </a:t>
            </a:r>
            <a:r>
              <a:rPr lang="en-US" altLang="ru-RU" sz="1400"/>
              <a:t>D - Durability (</a:t>
            </a:r>
            <a:r>
              <a:rPr lang="ru-RU" altLang="en-US" sz="1400"/>
              <a:t>Долговечность)</a:t>
            </a:r>
            <a:endParaRPr lang="ru-RU" altLang="en-US" sz="1400"/>
          </a:p>
        </p:txBody>
      </p:sp>
    </p:spTree>
    <p:custDataLst>
      <p:tags r:id="rId3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rmAutofit fontScale="90000"/>
          </a:bodyPr>
          <a:p>
            <a:r>
              <a:rPr lang="en-US" altLang="en-US"/>
              <a:t>Базовые понятия: таблица, документ, событие, транзакция</a:t>
            </a:r>
            <a:endParaRPr lang="en-US" altLang="en-US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pPr marL="0" indent="0">
              <a:buNone/>
            </a:pPr>
            <a:r>
              <a:rPr lang="en-US" altLang="en-US" u="sng"/>
              <a:t>Что мы вообще храним?</a:t>
            </a:r>
            <a:endParaRPr lang="en-US" altLang="en-US" u="sng"/>
          </a:p>
          <a:p>
            <a:r>
              <a:rPr lang="en-US" altLang="en-US"/>
              <a:t>Таблица: строки и колонки, жёсткая схема</a:t>
            </a:r>
            <a:endParaRPr lang="en-US" altLang="en-US"/>
          </a:p>
          <a:p>
            <a:r>
              <a:rPr lang="en-US" altLang="en-US"/>
              <a:t>Документ: полуструктурированные данные (JSON), гибкая схема</a:t>
            </a:r>
            <a:endParaRPr lang="en-US" altLang="en-US"/>
          </a:p>
          <a:p>
            <a:r>
              <a:rPr lang="en-US" altLang="en-US"/>
              <a:t>Событие: неизменяемая запись факта во времени</a:t>
            </a:r>
            <a:endParaRPr lang="en-US" altLang="en-US"/>
          </a:p>
          <a:p>
            <a:r>
              <a:rPr lang="en-US" altLang="en-US"/>
              <a:t>Транзакция: атомарная операция («всё или ничего»)</a:t>
            </a:r>
            <a:endParaRPr lang="en-US" altLang="en-US"/>
          </a:p>
          <a:p>
            <a:pPr marL="0" indent="457200">
              <a:buNone/>
            </a:pPr>
            <a:r>
              <a:rPr lang="en-US" altLang="en-US"/>
              <a:t>Эти абстракции встречаются в разных СУБД и определяют, как мы проектируем данные.</a:t>
            </a:r>
            <a:endParaRPr lang="en-US" altLang="en-US"/>
          </a:p>
        </p:txBody>
      </p:sp>
    </p:spTree>
    <p:custDataLst>
      <p:tags r:id="rId3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Content Placeholder 3"/>
          <p:cNvSpPr>
            <a:spLocks noGrp="1"/>
          </p:cNvSpPr>
          <p:nvPr>
            <p:ph sz="quarter" idx="13"/>
            <p:custDataLst>
              <p:tags r:id="rId1"/>
            </p:custDataLst>
          </p:nvPr>
        </p:nvSpPr>
        <p:spPr/>
        <p:txBody>
          <a:bodyPr/>
          <a:p>
            <a:pPr marL="0" indent="0">
              <a:buNone/>
            </a:pPr>
            <a:r>
              <a:rPr lang="en-US" altLang="en-US"/>
              <a:t>Примеры:</a:t>
            </a:r>
            <a:endParaRPr lang="en-US" altLang="en-US"/>
          </a:p>
          <a:p>
            <a:r>
              <a:rPr lang="en-US" altLang="en-US"/>
              <a:t>Таблица:</a:t>
            </a:r>
            <a:r>
              <a:rPr lang="ru-RU" altLang="en-US"/>
              <a:t> </a:t>
            </a:r>
            <a:r>
              <a:rPr lang="en-US" altLang="ru-RU"/>
              <a:t>User (ID, Email, CreateAt) </a:t>
            </a:r>
            <a:r>
              <a:rPr lang="en-US" altLang="en-US"/>
              <a:t>в PostgreSQL.</a:t>
            </a:r>
            <a:endParaRPr lang="en-US" altLang="en-US"/>
          </a:p>
          <a:p>
            <a:r>
              <a:rPr lang="en-US" altLang="en-US"/>
              <a:t>Документ </a:t>
            </a:r>
            <a:r>
              <a:rPr lang="ru-RU" altLang="en-US"/>
              <a:t>(файл)</a:t>
            </a:r>
            <a:r>
              <a:rPr lang="en-US" altLang="en-US"/>
              <a:t>:</a:t>
            </a:r>
            <a:r>
              <a:rPr lang="ru-RU" altLang="en-US"/>
              <a:t> </a:t>
            </a:r>
            <a:r>
              <a:rPr lang="en-US" altLang="ru-RU"/>
              <a:t>{"id": "123", "name": "Ivan"} </a:t>
            </a:r>
            <a:r>
              <a:rPr lang="en-US" altLang="en-US"/>
              <a:t>в MongoDB.</a:t>
            </a:r>
            <a:endParaRPr lang="en-US" altLang="en-US"/>
          </a:p>
          <a:p>
            <a:r>
              <a:rPr lang="en-US" altLang="en-US"/>
              <a:t>Событие: OrderPlaced(orderId, userId, items, timestamp) - </a:t>
            </a:r>
            <a:r>
              <a:rPr lang="ru-RU" altLang="en-US"/>
              <a:t>неизменяемое.</a:t>
            </a:r>
            <a:endParaRPr lang="ru-RU" altLang="en-US"/>
          </a:p>
          <a:p>
            <a:r>
              <a:rPr lang="en-US" altLang="en-US"/>
              <a:t>Транзакция: списание денег и создание заказа — вместе или никак.</a:t>
            </a:r>
            <a:endParaRPr lang="ru-RU" altLang="en-US"/>
          </a:p>
          <a:p>
            <a:pPr marL="0" indent="457200">
              <a:buNone/>
            </a:pPr>
            <a:r>
              <a:rPr lang="en-US" altLang="en-US"/>
              <a:t>Понимание этих понятий помогает сопоставлять требования бизнеса с возможностями хранилищ.  </a:t>
            </a:r>
            <a:endParaRPr lang="en-US" altLang="en-US"/>
          </a:p>
        </p:txBody>
      </p:sp>
    </p:spTree>
    <p:custDataLst>
      <p:tags r:id="rId2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en-US"/>
              <a:t>OLTP vs OLAP: два мира</a:t>
            </a:r>
            <a:endParaRPr lang="en-US" altLang="en-US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r>
              <a:rPr lang="en-US" altLang="en-US"/>
              <a:t>OLTP (Online Transaction Processing) — это способ организации работы с данными, при котором система быстро и надёжно обрабатывает большое количество коротких операций (транзакций) в режиме, близком к реальному времени. </a:t>
            </a:r>
            <a:endParaRPr lang="en-US" altLang="en-US"/>
          </a:p>
          <a:p>
            <a:r>
              <a:rPr lang="en-US" altLang="en-US"/>
              <a:t>OLAP (Online Analytical Processing) — это технология, которая помогает быстро анализировать большие объёмы данных, чтобы на их основе принимать взвешенные бизнес-решения. </a:t>
            </a:r>
            <a:endParaRPr lang="en-US" altLang="en-US"/>
          </a:p>
          <a:p>
            <a:pPr marL="0" indent="0">
              <a:buNone/>
            </a:pPr>
            <a:endParaRPr lang="en-US" altLang="en-US"/>
          </a:p>
          <a:p>
            <a:pPr marL="0" indent="0">
              <a:buNone/>
            </a:pPr>
            <a:r>
              <a:rPr lang="en-US" altLang="en-US"/>
              <a:t>OLTP и OLAP — разные профили нагрузки</a:t>
            </a:r>
            <a:r>
              <a:rPr lang="ru-RU" altLang="en-US"/>
              <a:t>.</a:t>
            </a:r>
            <a:endParaRPr lang="ru-RU" altLang="en-US"/>
          </a:p>
          <a:p>
            <a:pPr marL="0" indent="0">
              <a:buNone/>
            </a:pPr>
            <a:r>
              <a:rPr lang="en-US" altLang="en-US"/>
              <a:t>Это фундаментальное разделение. OLTP — про частые мелкие операции и целостность. OLAP — про редкие тяжёлые чтения и агрегаты.</a:t>
            </a:r>
            <a:endParaRPr lang="en-US" altLang="en-US"/>
          </a:p>
        </p:txBody>
      </p:sp>
    </p:spTree>
    <p:custDataLst>
      <p:tags r:id="rId3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5" name="Content Placeholder 4"/>
          <p:cNvGraphicFramePr/>
          <p:nvPr>
            <p:ph sz="quarter" idx="13"/>
            <p:custDataLst>
              <p:tags r:id="rId1"/>
            </p:custDataLst>
          </p:nvPr>
        </p:nvGraphicFramePr>
        <p:xfrm>
          <a:off x="608400" y="774000"/>
          <a:ext cx="10972800" cy="1905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8245"/>
                <a:gridCol w="3453765"/>
                <a:gridCol w="5050790"/>
              </a:tblGrid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/>
                        <a:t>Параметр	</a:t>
                      </a:r>
                      <a:endParaRPr lang="en-US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ru-RU"/>
                        <a:t>OLTP</a:t>
                      </a:r>
                      <a:endParaRPr lang="en-US" altLang="ru-RU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OLAP</a:t>
                      </a:r>
                      <a:endParaRPr 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/>
                        <a:t>Цель</a:t>
                      </a:r>
                      <a:endParaRPr lang="en-US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/>
                        <a:t>Операции, транзакции</a:t>
                      </a:r>
                      <a:endParaRPr lang="en-US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/>
                        <a:t>Аналитика, отчёты</a:t>
                      </a:r>
                      <a:endParaRPr lang="en-US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/>
                        <a:t>Запросы</a:t>
                      </a:r>
                      <a:endParaRPr lang="en-US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/>
                        <a:t>Короткие, точечные</a:t>
                      </a:r>
                      <a:endParaRPr lang="en-US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/>
                        <a:t>Длинные, агрегаты</a:t>
                      </a:r>
                      <a:endParaRPr lang="en-US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/>
                        <a:t>Данные</a:t>
                      </a:r>
                      <a:endParaRPr lang="en-US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/>
                        <a:t>Свежие, детальные</a:t>
                      </a:r>
                      <a:endParaRPr lang="en-US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/>
                        <a:t>Исторические, агрегированные</a:t>
                      </a:r>
                      <a:endParaRPr lang="en-US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/>
                        <a:t>Примеры</a:t>
                      </a:r>
                      <a:endParaRPr lang="en-US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/>
                        <a:t>Заказы, платежи, профили</a:t>
                      </a:r>
                      <a:endParaRPr lang="en-US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/>
                        <a:t>Отчёты по продажам, </a:t>
                      </a:r>
                      <a:r>
                        <a:rPr lang="ru-RU" altLang="en-US"/>
                        <a:t>исследования</a:t>
                      </a:r>
                      <a:endParaRPr lang="ru-RU" altLang="en-US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 Box 5"/>
          <p:cNvSpPr txBox="1"/>
          <p:nvPr/>
        </p:nvSpPr>
        <p:spPr>
          <a:xfrm>
            <a:off x="608330" y="3168650"/>
            <a:ext cx="10972165" cy="922020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lnSpc>
                <a:spcPct val="150000"/>
              </a:lnSpc>
            </a:pPr>
            <a:r>
              <a:rPr b="1">
                <a:latin typeface="Helvetica Neue Bold" panose="02000503000000020004" charset="0"/>
                <a:cs typeface="Helvetica Neue Bold" panose="02000503000000020004" charset="0"/>
              </a:rPr>
              <a:t>Пример:</a:t>
            </a:r>
            <a:endParaRPr b="1">
              <a:latin typeface="Helvetica Neue Bold" panose="02000503000000020004" charset="0"/>
              <a:cs typeface="Helvetica Neue Bold" panose="02000503000000020004" charset="0"/>
            </a:endParaRPr>
          </a:p>
          <a:p>
            <a:pPr>
              <a:lnSpc>
                <a:spcPct val="150000"/>
              </a:lnSpc>
            </a:pPr>
            <a:r>
              <a:t>Сервис принимает заказ (OLTP), а отдельный сервис строит отчёт по продажам за месяц (OLAP).</a:t>
            </a:r>
          </a:p>
        </p:txBody>
      </p:sp>
      <p:sp>
        <p:nvSpPr>
          <p:cNvPr id="7" name="Text Box 6"/>
          <p:cNvSpPr txBox="1"/>
          <p:nvPr/>
        </p:nvSpPr>
        <p:spPr>
          <a:xfrm>
            <a:off x="608330" y="4241800"/>
            <a:ext cx="10972165" cy="922020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lnSpc>
                <a:spcPct val="150000"/>
              </a:lnSpc>
            </a:pPr>
            <a:r>
              <a:t>Нельзя использовать OLAP-базу как основное хранилище для транзакций: она оптимизирована под чтение и агрегаты, а не под частые мелкие записи.</a:t>
            </a:r>
          </a:p>
        </p:txBody>
      </p:sp>
    </p:spTree>
    <p:custDataLst>
      <p:tags r:id="rId2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en-US"/>
              <a:t>ACID: что это и зачем</a:t>
            </a:r>
            <a:endParaRPr lang="en-US" altLang="en-US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pPr marL="0" indent="0">
              <a:buNone/>
            </a:pPr>
            <a:r>
              <a:rPr lang="en-US" altLang="en-US" u="sng"/>
              <a:t>ACID: гарантия целостности</a:t>
            </a:r>
            <a:endParaRPr lang="en-US" altLang="en-US" u="sng"/>
          </a:p>
          <a:p>
            <a:r>
              <a:rPr lang="en-US" altLang="en-US"/>
              <a:t>Atomicity (атомарность): всё или ничего</a:t>
            </a:r>
            <a:endParaRPr lang="en-US" altLang="en-US"/>
          </a:p>
          <a:p>
            <a:r>
              <a:rPr lang="en-US" altLang="en-US"/>
              <a:t>Consistency (согласованность): данные остаются валидными</a:t>
            </a:r>
            <a:endParaRPr lang="en-US" altLang="en-US"/>
          </a:p>
          <a:p>
            <a:r>
              <a:rPr lang="en-US" altLang="en-US"/>
              <a:t>Isolation (изоляция): параллельные операции не ломают состояние</a:t>
            </a:r>
            <a:endParaRPr lang="en-US" altLang="en-US"/>
          </a:p>
          <a:p>
            <a:r>
              <a:rPr lang="en-US" altLang="en-US"/>
              <a:t>Durability (долговечность): данные не пропадут при сбое</a:t>
            </a:r>
            <a:endParaRPr lang="en-US" altLang="en-US"/>
          </a:p>
          <a:p>
            <a:pPr marL="0" indent="457200">
              <a:buNone/>
            </a:pPr>
            <a:r>
              <a:rPr lang="en-US" altLang="en-US"/>
              <a:t>ACID — это гарантия, что транзакции будут корректными даже при сбоях и параллелизме.</a:t>
            </a:r>
            <a:endParaRPr lang="en-US" altLang="en-US"/>
          </a:p>
          <a:p>
            <a:pPr marL="0" indent="457200">
              <a:buNone/>
            </a:pPr>
            <a:r>
              <a:rPr lang="en-US" altLang="en-US"/>
              <a:t>ACID нужен там, где ошибка недопустима (финансы, заказы). В других случаях можно жертвовать частью гарантий ради скорости.</a:t>
            </a:r>
            <a:endParaRPr lang="en-US" altLang="en-US"/>
          </a:p>
        </p:txBody>
      </p:sp>
    </p:spTree>
    <p:custDataLst>
      <p:tags r:id="rId3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rmAutofit fontScale="90000"/>
          </a:bodyPr>
          <a:p>
            <a:r>
              <a:rPr lang="en-US" altLang="en-US"/>
              <a:t>CAP-теорема: компромисс в распределённых системах</a:t>
            </a:r>
            <a:endParaRPr lang="en-US" altLang="en-US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>
            <a:normAutofit lnSpcReduction="10000"/>
          </a:bodyPr>
          <a:p>
            <a:pPr marL="0" indent="0">
              <a:buNone/>
            </a:pPr>
            <a:r>
              <a:rPr lang="en-US" altLang="en-US"/>
              <a:t>CAP-теорема: нельзя иметь всё сразу</a:t>
            </a:r>
            <a:endParaRPr lang="en-US" altLang="en-US"/>
          </a:p>
          <a:p>
            <a:r>
              <a:rPr lang="en-US" altLang="en-US"/>
              <a:t>Consistency: все узлы видят одинаковые данные</a:t>
            </a:r>
            <a:endParaRPr lang="en-US" altLang="en-US"/>
          </a:p>
          <a:p>
            <a:r>
              <a:rPr lang="en-US" altLang="en-US"/>
              <a:t>Availability: система отвечает на запросы</a:t>
            </a:r>
            <a:endParaRPr lang="en-US" altLang="en-US"/>
          </a:p>
          <a:p>
            <a:r>
              <a:rPr lang="en-US" altLang="en-US"/>
              <a:t>Partition tolerance: система работает при разрыве сети</a:t>
            </a:r>
            <a:endParaRPr lang="en-US" altLang="en-US"/>
          </a:p>
          <a:p>
            <a:pPr marL="0" indent="0">
              <a:buNone/>
            </a:pPr>
            <a:r>
              <a:rPr lang="en-US" altLang="en-US" b="1">
                <a:latin typeface="Helvetica Neue Bold" panose="02000503000000020004" charset="0"/>
                <a:cs typeface="Helvetica Neue Bold" panose="02000503000000020004" charset="0"/>
              </a:rPr>
              <a:t>Правило:</a:t>
            </a:r>
            <a:r>
              <a:rPr lang="en-US" altLang="en-US"/>
              <a:t> В распределённой системе можно иметь только 2 из 3 свойств.</a:t>
            </a:r>
            <a:endParaRPr lang="en-US" altLang="en-US"/>
          </a:p>
          <a:p>
            <a:pPr marL="0" indent="457200">
              <a:buNone/>
            </a:pPr>
            <a:r>
              <a:rPr lang="en-US" altLang="en-US"/>
              <a:t>При проектировании распределённой базы приходится осознанно выбирать компромисс.</a:t>
            </a:r>
            <a:endParaRPr lang="en-US" altLang="en-US"/>
          </a:p>
          <a:p>
            <a:pPr marL="0" indent="457200">
              <a:buNone/>
            </a:pPr>
            <a:r>
              <a:rPr lang="en-US" altLang="en-US"/>
              <a:t>Пример: Redis Cluster жертвует строгой согласованностью ради доступности и устойчивости к разделениям.</a:t>
            </a:r>
            <a:endParaRPr lang="en-US" altLang="en-US"/>
          </a:p>
          <a:p>
            <a:pPr marL="0" indent="457200">
              <a:buNone/>
            </a:pPr>
            <a:r>
              <a:rPr lang="en-US" altLang="en-US"/>
              <a:t>CAP объясняет, почему некоторые NoSQL-базы допускают временную несогласованность.</a:t>
            </a:r>
            <a:endParaRPr lang="en-US" altLang="en-US"/>
          </a:p>
        </p:txBody>
      </p:sp>
    </p:spTree>
    <p:custDataLst>
      <p:tags r:id="rId3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en-US"/>
              <a:t>Реляционные СУБД: целостность и связи</a:t>
            </a:r>
            <a:endParaRPr lang="en-US" altLang="en-US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r>
              <a:rPr lang="en-US" altLang="en-US"/>
              <a:t>Представители: PostgreSQL, MySQL, SQL Server</a:t>
            </a:r>
            <a:endParaRPr lang="en-US" altLang="en-US"/>
          </a:p>
          <a:p>
            <a:r>
              <a:rPr lang="en-US" altLang="en-US"/>
              <a:t>Какие запросы: транзакции, JOIN, внешние ключи</a:t>
            </a:r>
            <a:endParaRPr lang="en-US" altLang="en-US"/>
          </a:p>
          <a:p>
            <a:r>
              <a:rPr lang="en-US" altLang="en-US"/>
              <a:t>Сильная сторона: целостность данных, ACID</a:t>
            </a:r>
            <a:endParaRPr lang="en-US" altLang="en-US"/>
          </a:p>
          <a:p>
            <a:pPr marL="0" indent="457200">
              <a:buNone/>
            </a:pPr>
            <a:r>
              <a:rPr lang="en-US" altLang="en-US"/>
              <a:t>Реляционные базы — это «золотой стандарт» для транзакционных данных: финансы, заказы, учёт.</a:t>
            </a:r>
            <a:endParaRPr lang="en-US" altLang="en-US"/>
          </a:p>
          <a:p>
            <a:pPr marL="0" indent="457200">
              <a:buNone/>
            </a:pPr>
            <a:r>
              <a:rPr lang="en-US" altLang="en-US"/>
              <a:t>Пример запроса:</a:t>
            </a:r>
            <a:endParaRPr lang="en-US" altLang="en-US"/>
          </a:p>
        </p:txBody>
      </p:sp>
      <p:pic>
        <p:nvPicPr>
          <p:cNvPr id="6" name="Picture 5" descr="Снимок экрана — 2026-09-01 в 17.24.4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8510" y="4456430"/>
            <a:ext cx="3721100" cy="1206500"/>
          </a:xfrm>
          <a:prstGeom prst="rect">
            <a:avLst/>
          </a:prstGeom>
        </p:spPr>
      </p:pic>
      <p:sp>
        <p:nvSpPr>
          <p:cNvPr id="7" name="Text Box 6"/>
          <p:cNvSpPr txBox="1"/>
          <p:nvPr/>
        </p:nvSpPr>
        <p:spPr>
          <a:xfrm>
            <a:off x="4869180" y="4354830"/>
            <a:ext cx="6817995" cy="1409700"/>
          </a:xfrm>
          <a:prstGeom prst="rect">
            <a:avLst/>
          </a:prstGeom>
        </p:spPr>
        <p:txBody>
          <a:bodyPr>
            <a:noAutofit/>
          </a:bodyPr>
          <a:p>
            <a:pPr>
              <a:lnSpc>
                <a:spcPct val="150000"/>
              </a:lnSpc>
            </a:pPr>
            <a:r>
              <a:t>JOIN и внешние ключи позволяют строить сложные согласованные структуры. Это дорого по производительности при больших объёмах, но критично для целостности.</a:t>
            </a:r>
          </a:p>
        </p:txBody>
      </p:sp>
    </p:spTree>
    <p:custDataLst>
      <p:tags r:id="rId4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en-US"/>
              <a:t>Нормализация: зачем и как</a:t>
            </a:r>
            <a:endParaRPr lang="en-US" altLang="en-US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>
            <a:normAutofit lnSpcReduction="20000"/>
          </a:bodyPr>
          <a:p>
            <a:pPr marL="0" indent="0">
              <a:buNone/>
            </a:pPr>
            <a:r>
              <a:rPr lang="en-US" altLang="en-US" u="sng"/>
              <a:t>Нормализация: борьба с избыточностью</a:t>
            </a:r>
            <a:endParaRPr lang="en-US" altLang="en-US" u="sng"/>
          </a:p>
          <a:p>
            <a:r>
              <a:rPr lang="en-US" altLang="en-US"/>
              <a:t>1NF: атомарные значения, нет повторяющихся групп</a:t>
            </a:r>
            <a:endParaRPr lang="en-US" altLang="en-US"/>
          </a:p>
          <a:p>
            <a:r>
              <a:rPr lang="en-US" altLang="en-US"/>
              <a:t>2NF: нет частичных зависимостей от составного ключа</a:t>
            </a:r>
            <a:endParaRPr lang="en-US" altLang="en-US"/>
          </a:p>
          <a:p>
            <a:r>
              <a:rPr lang="en-US" altLang="en-US"/>
              <a:t>3NF: нет транзитивных зависимостей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Нормализация уменьшает дублирование и риск ошибок, но может усложнять чтение.</a:t>
            </a:r>
            <a:endParaRPr lang="en-US" altLang="en-US"/>
          </a:p>
          <a:p>
            <a:pPr marL="0" indent="457200">
              <a:buNone/>
            </a:pPr>
            <a:r>
              <a:rPr lang="en-US" altLang="en-US"/>
              <a:t>Пример: Вместо хранения имени пользователя в каждой строке заказов — вынести в отдельную таблицу Users и ссылаться по Id.</a:t>
            </a:r>
            <a:endParaRPr lang="en-US" altLang="en-US"/>
          </a:p>
          <a:p>
            <a:pPr marL="0" indent="457200">
              <a:buNone/>
            </a:pPr>
            <a:r>
              <a:rPr lang="en-US" altLang="en-US"/>
              <a:t>В реальных системах часто используют денормализацию, чтобы ускорить частые запросы.</a:t>
            </a:r>
            <a:endParaRPr lang="en-US" altLang="en-US"/>
          </a:p>
          <a:p>
            <a:pPr marL="0" indent="457200">
              <a:buNone/>
            </a:pPr>
            <a:r>
              <a:rPr lang="en-US" altLang="en-US"/>
              <a:t>Денормализация базы данных — это процесс намеренного введения избыточности в структуру базы данных с целью ускорения выполнения запросов за счёт сокращения количества операций соединения (JOIN) между таблицами. </a:t>
            </a:r>
            <a:endParaRPr lang="en-US" altLang="en-US"/>
          </a:p>
        </p:txBody>
      </p:sp>
    </p:spTree>
    <p:custDataLst>
      <p:tags r:id="rId3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en-US"/>
              <a:t>Индексы: ускорение поиска</a:t>
            </a:r>
            <a:endParaRPr lang="en-US" altLang="en-US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r>
              <a:rPr lang="en-US" altLang="en-US"/>
              <a:t>B-Tree: основной тип индекса для диапазонов и сортировки</a:t>
            </a:r>
            <a:endParaRPr lang="en-US" altLang="en-US"/>
          </a:p>
          <a:p>
            <a:r>
              <a:rPr lang="en-US" altLang="en-US"/>
              <a:t>Hash: быстрый поиск по точному совпадению</a:t>
            </a:r>
            <a:endParaRPr lang="en-US" altLang="en-US"/>
          </a:p>
          <a:p>
            <a:r>
              <a:rPr lang="en-US" altLang="en-US"/>
              <a:t>Bitmap: эффективен для низкой кардинальности</a:t>
            </a:r>
            <a:endParaRPr lang="en-US" altLang="en-US"/>
          </a:p>
          <a:p>
            <a:r>
              <a:rPr lang="en-US" altLang="en-US"/>
              <a:t>Covering index: индекс, содержащий все нужные поля</a:t>
            </a:r>
            <a:endParaRPr lang="en-US" altLang="en-US"/>
          </a:p>
          <a:p>
            <a:pPr marL="0" indent="457200">
              <a:buNone/>
            </a:pPr>
            <a:r>
              <a:rPr lang="en-US" altLang="en-US"/>
              <a:t>Индексы ускоряют чтение, но замедляют запись и занимают место.</a:t>
            </a:r>
            <a:endParaRPr lang="en-US" altLang="en-US"/>
          </a:p>
          <a:p>
            <a:pPr marL="0" indent="457200">
              <a:buNone/>
            </a:pPr>
            <a:r>
              <a:rPr lang="en-US" altLang="en-US"/>
              <a:t>Пример: Индекс по UserId в таблице Orders ускоряет поиск заказов конкретного пользователя.</a:t>
            </a:r>
            <a:endParaRPr lang="en-US" altLang="en-US"/>
          </a:p>
          <a:p>
            <a:pPr marL="0" indent="457200">
              <a:buNone/>
            </a:pPr>
            <a:r>
              <a:rPr lang="en-US" altLang="en-US"/>
              <a:t>Не стоит индексировать всё подряд: это ухудшает производительность записи и увеличивает размер БД.</a:t>
            </a:r>
            <a:endParaRPr lang="en-US" altLang="en-US"/>
          </a:p>
        </p:txBody>
      </p:sp>
    </p:spTree>
    <p:custDataLst>
      <p:tags r:id="rId3"/>
    </p:custData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Content Placeholder 3"/>
          <p:cNvSpPr>
            <a:spLocks noGrp="1"/>
          </p:cNvSpPr>
          <p:nvPr>
            <p:ph sz="quarter" idx="13"/>
            <p:custDataLst>
              <p:tags r:id="rId1"/>
            </p:custDataLst>
          </p:nvPr>
        </p:nvSpPr>
        <p:spPr/>
        <p:txBody>
          <a:bodyPr/>
          <a:p>
            <a:pPr marL="0" indent="0">
              <a:buNone/>
            </a:pPr>
            <a:r>
              <a:rPr lang="en-US" altLang="en-US"/>
              <a:t>Денормализация оправдана в следующих случаях:</a:t>
            </a:r>
            <a:endParaRPr lang="en-US" altLang="en-US"/>
          </a:p>
          <a:p>
            <a:r>
              <a:rPr lang="en-US" altLang="en-US"/>
              <a:t>Высокая нагрузка на чтение данных. Когда система часто выполняет сложные аналитические запросы, и скорость их выполнения критически важна (например, в хранилищах данных, системах бизнес-аналитики).</a:t>
            </a:r>
            <a:endParaRPr lang="en-US" altLang="en-US"/>
          </a:p>
          <a:p>
            <a:r>
              <a:rPr lang="en-US" altLang="en-US"/>
              <a:t>Большое количество JOIN-операций в запросах. Если для получения связанных данных требуется объединять множество таблиц, это может существенно замедлять работу.</a:t>
            </a:r>
            <a:endParaRPr lang="en-US" altLang="en-US"/>
          </a:p>
          <a:p>
            <a:r>
              <a:rPr lang="en-US" altLang="en-US"/>
              <a:t>Стабильность данных. Данные не меняются часто или их можно периодически полностью перезагружать пакетно.</a:t>
            </a:r>
            <a:endParaRPr lang="en-US" altLang="en-US"/>
          </a:p>
          <a:p>
            <a:r>
              <a:rPr lang="en-US" altLang="en-US"/>
              <a:t>Допустима задержка доступности данных. Например, для аналитических отчётов, которые можно формировать с некоторой периодичностью.</a:t>
            </a:r>
            <a:endParaRPr lang="en-US" altLang="en-US"/>
          </a:p>
        </p:txBody>
      </p:sp>
    </p:spTree>
    <p:custDataLst>
      <p:tags r:id="rId2"/>
    </p:custData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Content Placeholder 3"/>
          <p:cNvSpPr>
            <a:spLocks noGrp="1"/>
          </p:cNvSpPr>
          <p:nvPr>
            <p:ph sz="quarter" idx="13"/>
            <p:custDataLst>
              <p:tags r:id="rId1"/>
            </p:custDataLst>
          </p:nvPr>
        </p:nvSpPr>
        <p:spPr/>
        <p:txBody>
          <a:bodyPr>
            <a:normAutofit/>
          </a:bodyPr>
          <a:p>
            <a:pPr marL="0" indent="0">
              <a:buNone/>
            </a:pPr>
            <a:r>
              <a:rPr lang="ru-RU" altLang="en-US" u="sng"/>
              <a:t>Риски и минусы:</a:t>
            </a:r>
            <a:endParaRPr lang="ru-RU" altLang="en-US" u="sng"/>
          </a:p>
          <a:p>
            <a:r>
              <a:rPr lang="en-US" altLang="en-US" b="1">
                <a:latin typeface="Helvetica Neue Bold" panose="02000503000000020004" charset="0"/>
                <a:cs typeface="Helvetica Neue Bold" panose="02000503000000020004" charset="0"/>
              </a:rPr>
              <a:t>Избыточность данных.</a:t>
            </a:r>
            <a:r>
              <a:rPr lang="en-US" altLang="en-US"/>
              <a:t> Дублирование информации увеличивает объём хранимых данных. </a:t>
            </a:r>
            <a:endParaRPr lang="en-US" altLang="en-US"/>
          </a:p>
          <a:p>
            <a:r>
              <a:rPr lang="en-US" altLang="en-US" b="1">
                <a:latin typeface="Helvetica Neue Bold" panose="02000503000000020004" charset="0"/>
                <a:cs typeface="Helvetica Neue Bold" panose="02000503000000020004" charset="0"/>
              </a:rPr>
              <a:t>Сложность операций записи.</a:t>
            </a:r>
            <a:r>
              <a:rPr lang="en-US" altLang="en-US"/>
              <a:t> Обновление данных становится более ресурсоёмким, так как изменения нужно вносить во все дублирующиеся копии. </a:t>
            </a:r>
            <a:endParaRPr lang="en-US" altLang="en-US"/>
          </a:p>
          <a:p>
            <a:r>
              <a:rPr lang="en-US" altLang="en-US" b="1">
                <a:latin typeface="Helvetica Neue Bold" panose="02000503000000020004" charset="0"/>
                <a:cs typeface="Helvetica Neue Bold" panose="02000503000000020004" charset="0"/>
              </a:rPr>
              <a:t>Риск несогласованности данных.</a:t>
            </a:r>
            <a:r>
              <a:rPr lang="en-US" altLang="en-US"/>
              <a:t> Если одно и то же значение хранится в нескольких местах, его изменение в одном месте требует ручного обновления во всех остальных, что повышает вероятность ошибок. </a:t>
            </a:r>
            <a:endParaRPr lang="en-US" altLang="en-US"/>
          </a:p>
          <a:p>
            <a:r>
              <a:rPr lang="en-US" altLang="en-US" b="1">
                <a:latin typeface="Helvetica Neue Bold" panose="02000503000000020004" charset="0"/>
                <a:cs typeface="Helvetica Neue Bold" panose="02000503000000020004" charset="0"/>
              </a:rPr>
              <a:t>Ослабление целостности данных</a:t>
            </a:r>
            <a:r>
              <a:rPr lang="en-US" altLang="en-US"/>
              <a:t>. В отличие от нормализации, которая способствует поддержанию целостности, денормализация снижает эту гарантию. </a:t>
            </a:r>
            <a:endParaRPr lang="en-US" altLang="en-US"/>
          </a:p>
        </p:txBody>
      </p:sp>
    </p:spTree>
    <p:custDataLst>
      <p:tags r:id="rId2"/>
    </p:custData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rmAutofit/>
          </a:bodyPr>
          <a:p>
            <a:r>
              <a:rPr lang="en-US" altLang="en-US"/>
              <a:t>Key-value: скорость и простота</a:t>
            </a:r>
            <a:endParaRPr lang="en-US" altLang="en-US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>
            <a:normAutofit lnSpcReduction="20000"/>
          </a:bodyPr>
          <a:p>
            <a:pPr marL="0" indent="0">
              <a:buNone/>
            </a:pPr>
            <a:r>
              <a:rPr lang="en-US" altLang="en-US" u="sng"/>
              <a:t>Key-value: ключ → значение</a:t>
            </a:r>
            <a:endParaRPr lang="en-US" altLang="en-US" u="sng"/>
          </a:p>
          <a:p>
            <a:r>
              <a:rPr lang="en-US" altLang="en-US"/>
              <a:t>Представители: Redis, Memcached</a:t>
            </a:r>
            <a:endParaRPr lang="en-US" altLang="en-US"/>
          </a:p>
          <a:p>
            <a:r>
              <a:rPr lang="en-US" altLang="en-US"/>
              <a:t>Какие запросы: доступ по ключу, TTL</a:t>
            </a:r>
            <a:r>
              <a:rPr lang="ru-RU" altLang="en-US"/>
              <a:t> (</a:t>
            </a:r>
            <a:r>
              <a:rPr lang="en-US" altLang="ru-RU"/>
              <a:t>Time-to-Live)</a:t>
            </a:r>
            <a:r>
              <a:rPr lang="en-US" altLang="en-US"/>
              <a:t>, простые операции</a:t>
            </a:r>
            <a:endParaRPr lang="en-US" altLang="en-US"/>
          </a:p>
          <a:p>
            <a:r>
              <a:rPr lang="en-US" altLang="en-US"/>
              <a:t>Сильная сторона: скорость, простота, кэширование</a:t>
            </a:r>
            <a:endParaRPr lang="en-US" altLang="en-US"/>
          </a:p>
          <a:p>
            <a:pPr marL="0" indent="457200">
              <a:buNone/>
            </a:pPr>
            <a:r>
              <a:rPr lang="en-US" altLang="en-US"/>
              <a:t>Key-value — это «ключ → значение» без сложных запросов. Идеально для кэша, быстрых счётчиков, очередей.</a:t>
            </a:r>
            <a:endParaRPr lang="en-US" altLang="en-US"/>
          </a:p>
          <a:p>
            <a:pPr marL="0" indent="457200">
              <a:buNone/>
            </a:pPr>
            <a:r>
              <a:rPr lang="en-US" altLang="en-US"/>
              <a:t>Пример (Redis CLI):</a:t>
            </a:r>
            <a:endParaRPr lang="en-US" altLang="en-US"/>
          </a:p>
          <a:p>
            <a:pPr marL="0" indent="457200">
              <a:buNone/>
            </a:pPr>
            <a:endParaRPr lang="en-US" altLang="en-US"/>
          </a:p>
          <a:p>
            <a:pPr marL="0" indent="457200">
              <a:buNone/>
            </a:pPr>
            <a:r>
              <a:rPr lang="en-US" altLang="en-US"/>
              <a:t>Redis не подходит для сложных запросов и связей. Это «быстрый ключ → значение», а не полноценная БД. </a:t>
            </a:r>
            <a:endParaRPr lang="en-US" altLang="en-US"/>
          </a:p>
          <a:p>
            <a:pPr marL="0" indent="0">
              <a:buNone/>
            </a:pPr>
            <a:r>
              <a:rPr lang="en-US" altLang="en-US" sz="1400"/>
              <a:t>*TTL (Time-To-Live) в базе данных — это механизм, который позволяет автоматически управлять жизненным циклом данных, задавая для них срок жизни. </a:t>
            </a:r>
            <a:endParaRPr lang="en-US" altLang="en-US" sz="1400"/>
          </a:p>
        </p:txBody>
      </p:sp>
      <p:pic>
        <p:nvPicPr>
          <p:cNvPr id="6" name="Picture 5" descr="Снимок экрана — 2026-09-01 в 17.48.3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4460" y="4036060"/>
            <a:ext cx="6781800" cy="64770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en-US"/>
              <a:t>Типы данных и структуры в Redis</a:t>
            </a:r>
            <a:endParaRPr lang="en-US" altLang="en-US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pPr marL="0" indent="0">
              <a:buNone/>
            </a:pPr>
            <a:r>
              <a:rPr lang="en-US" altLang="en-US" u="sng"/>
              <a:t>Redis: не только строки.</a:t>
            </a:r>
            <a:endParaRPr lang="en-US" altLang="en-US" u="sng"/>
          </a:p>
          <a:p>
            <a:r>
              <a:rPr lang="en-US" altLang="en-US"/>
              <a:t>Strings: простые значения, TTL</a:t>
            </a:r>
            <a:endParaRPr lang="en-US" altLang="en-US"/>
          </a:p>
          <a:p>
            <a:r>
              <a:rPr lang="en-US" altLang="en-US"/>
              <a:t>Hashes: объекты с полями</a:t>
            </a:r>
            <a:endParaRPr lang="en-US" altLang="en-US"/>
          </a:p>
          <a:p>
            <a:r>
              <a:rPr lang="en-US" altLang="en-US"/>
              <a:t>Lists: упорядоченные списки</a:t>
            </a:r>
            <a:endParaRPr lang="en-US" altLang="en-US"/>
          </a:p>
          <a:p>
            <a:r>
              <a:rPr lang="en-US" altLang="en-US"/>
              <a:t>Sets: уникальные элементы</a:t>
            </a:r>
            <a:endParaRPr lang="en-US" altLang="en-US"/>
          </a:p>
          <a:p>
            <a:r>
              <a:rPr lang="en-US" altLang="en-US"/>
              <a:t>Sorted Sets: элементы с весом (рейтинг)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Redis поддерживает разные структуры данных, что расширяет его применение.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Пример: Sorted Set используют для рейтингов и лидеров.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Выбор структуры влияет на сложность и скорость операций.</a:t>
            </a:r>
            <a:endParaRPr lang="en-US" altLang="en-US"/>
          </a:p>
        </p:txBody>
      </p:sp>
    </p:spTree>
    <p:custDataLst>
      <p:tags r:id="rId3"/>
    </p:custData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en-US"/>
              <a:t>Document: гибкая схема и вложенность</a:t>
            </a:r>
            <a:endParaRPr lang="en-US" altLang="en-US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pPr marL="0" indent="0">
              <a:buNone/>
            </a:pPr>
            <a:r>
              <a:rPr lang="en-US" altLang="en-US"/>
              <a:t>Document: JSON-документы и гибкость</a:t>
            </a:r>
            <a:endParaRPr lang="en-US" altLang="en-US"/>
          </a:p>
          <a:p>
            <a:r>
              <a:rPr lang="en-US" altLang="en-US"/>
              <a:t>Представители: MongoDB, CouchDB</a:t>
            </a:r>
            <a:endParaRPr lang="en-US" altLang="en-US"/>
          </a:p>
          <a:p>
            <a:r>
              <a:rPr lang="en-US" altLang="en-US"/>
              <a:t>Какие запросы: документы, вложенность, поиск по полям</a:t>
            </a:r>
            <a:endParaRPr lang="en-US" altLang="en-US"/>
          </a:p>
          <a:p>
            <a:r>
              <a:rPr lang="en-US" altLang="en-US"/>
              <a:t>Сильная сторона: гибкая схема, удобство для полуструктурированных данных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Document-базы хранят данные как JSON-документы. Схема может меняться от документа к документу.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Пример документа:</a:t>
            </a:r>
            <a:endParaRPr lang="en-US" altLang="en-US"/>
          </a:p>
        </p:txBody>
      </p:sp>
      <p:pic>
        <p:nvPicPr>
          <p:cNvPr id="6" name="Picture 5" descr="Снимок экрана — 2026-09-01 в 17.52.5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9925" y="4350385"/>
            <a:ext cx="3715385" cy="2283460"/>
          </a:xfrm>
          <a:prstGeom prst="rect">
            <a:avLst/>
          </a:prstGeom>
        </p:spPr>
      </p:pic>
      <p:sp>
        <p:nvSpPr>
          <p:cNvPr id="7" name="Text Box 6"/>
          <p:cNvSpPr txBox="1"/>
          <p:nvPr/>
        </p:nvSpPr>
        <p:spPr>
          <a:xfrm>
            <a:off x="7021195" y="4947602"/>
            <a:ext cx="5080000" cy="1337945"/>
          </a:xfrm>
          <a:prstGeom prst="rect">
            <a:avLst/>
          </a:prstGeom>
        </p:spPr>
        <p:txBody>
          <a:bodyPr>
            <a:spAutoFit/>
          </a:bodyPr>
          <a:p>
            <a:pPr>
              <a:lnSpc>
                <a:spcPct val="150000"/>
              </a:lnSpc>
            </a:pPr>
            <a:r>
              <a:t>Удобно для каталогов, профилей, контента. Но JOIN и сложные связи здесь делать неудобно.</a:t>
            </a:r>
          </a:p>
        </p:txBody>
      </p:sp>
    </p:spTree>
    <p:custDataLst>
      <p:tags r:id="rId4"/>
    </p:custData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en-US"/>
              <a:t>NoSQL</a:t>
            </a:r>
            <a:endParaRPr lang="en-US" altLang="en-US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>
            <a:normAutofit fontScale="90000"/>
          </a:bodyPr>
          <a:p>
            <a:pPr marL="0" indent="457200">
              <a:buNone/>
            </a:pPr>
            <a:r>
              <a:rPr lang="en-US" altLang="en-US" b="1">
                <a:latin typeface="Helvetica Neue Bold" panose="02000503000000020004" charset="0"/>
                <a:cs typeface="Helvetica Neue Bold" panose="02000503000000020004" charset="0"/>
              </a:rPr>
              <a:t>NoSQL</a:t>
            </a:r>
            <a:r>
              <a:rPr lang="en-US" altLang="en-US"/>
              <a:t> (от англ. Not Only SQL — «не только SQL») — это не конкретная технология, а целый класс систем управления базами данных (СУБД), которые предлагают более гибкие подходы к хранению и обработке данных по сравнению с традиционными реляционными СУБД.</a:t>
            </a:r>
            <a:endParaRPr lang="en-US" altLang="en-US"/>
          </a:p>
          <a:p>
            <a:pPr marL="0" indent="457200">
              <a:buNone/>
            </a:pPr>
            <a:r>
              <a:rPr lang="en-US" altLang="en-US"/>
              <a:t>Выбирайте NoSQL, когда:</a:t>
            </a:r>
            <a:endParaRPr lang="en-US" altLang="en-US"/>
          </a:p>
          <a:p>
            <a:pPr marL="285750" indent="-285750"/>
            <a:r>
              <a:rPr lang="en-US" altLang="en-US"/>
              <a:t>Нужно хранить большие объёмы неструктурированных или полуструктурированных данных (логи, метрики, документы). </a:t>
            </a:r>
            <a:endParaRPr lang="en-US" altLang="en-US"/>
          </a:p>
          <a:p>
            <a:pPr marL="285750" indent="-285750"/>
            <a:r>
              <a:rPr lang="en-US" altLang="en-US"/>
              <a:t>Структура данных часто меняется. </a:t>
            </a:r>
            <a:endParaRPr lang="en-US" altLang="en-US"/>
          </a:p>
          <a:p>
            <a:pPr marL="285750" indent="-285750"/>
            <a:r>
              <a:rPr lang="en-US" altLang="en-US"/>
              <a:t>Критически важна высокая масштабируемость и распределённость. </a:t>
            </a:r>
            <a:endParaRPr lang="en-US" altLang="en-US"/>
          </a:p>
          <a:p>
            <a:pPr marL="285750" indent="-285750"/>
            <a:r>
              <a:rPr lang="en-US" altLang="en-US"/>
              <a:t>Можно пожертвовать строгой согласованностью ради скорости. 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Типичные сценарии: веб- и мобильные приложения, аналитика в реальном времени, контентные платформы, рекомендательные системы, IoT. </a:t>
            </a:r>
            <a:endParaRPr lang="en-US" altLang="en-US"/>
          </a:p>
        </p:txBody>
      </p:sp>
    </p:spTree>
    <p:custDataLst>
      <p:tags r:id="rId3"/>
    </p:custData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5" name="Content Placeholder 4"/>
          <p:cNvGraphicFramePr/>
          <p:nvPr>
            <p:ph sz="quarter" idx="13"/>
            <p:custDataLst>
              <p:tags r:id="rId1"/>
            </p:custDataLst>
          </p:nvPr>
        </p:nvGraphicFramePr>
        <p:xfrm>
          <a:off x="229870" y="71120"/>
          <a:ext cx="11814810" cy="63385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96210"/>
                <a:gridCol w="3833495"/>
                <a:gridCol w="5285105"/>
              </a:tblGrid>
              <a:tr h="50673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/>
                        <a:t>Критерий</a:t>
                      </a:r>
                      <a:endParaRPr lang="en-US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/>
                        <a:t>Реляционные БД (SQL)</a:t>
                      </a:r>
                      <a:endParaRPr lang="en-US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/>
                        <a:t>NoSQL‑БД</a:t>
                      </a:r>
                      <a:endParaRPr lang="en-US" altLang="en-US"/>
                    </a:p>
                  </a:txBody>
                  <a:tcPr/>
                </a:tc>
              </a:tr>
              <a:tr h="53975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1400"/>
                        <a:t>Модель данных</a:t>
                      </a:r>
                      <a:endParaRPr lang="en-US" altLang="en-US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1400"/>
                        <a:t>Табличная: строки и столбцы, жёсткая схема</a:t>
                      </a:r>
                      <a:endParaRPr lang="en-US" altLang="en-US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1400"/>
                        <a:t>Разнообразная: ключ‑значение, документы, графы, колонки и др.; схема гибкая или отсутствует</a:t>
                      </a:r>
                      <a:endParaRPr lang="en-US" altLang="en-US" sz="1400"/>
                    </a:p>
                  </a:txBody>
                  <a:tcPr/>
                </a:tc>
              </a:tr>
              <a:tr h="51816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1400"/>
                        <a:t>Язык запросов</a:t>
                      </a:r>
                      <a:endParaRPr lang="en-US" altLang="en-US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1400"/>
                        <a:t>SQL (стандартизированный язык)</a:t>
                      </a:r>
                      <a:endParaRPr lang="en-US" altLang="en-US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1400"/>
                        <a:t>Зависит от СУБД: собственные API, специфичные языки, простые команды (например, GET/SET)</a:t>
                      </a:r>
                      <a:endParaRPr lang="en-US" altLang="en-US" sz="1400"/>
                    </a:p>
                  </a:txBody>
                  <a:tcPr/>
                </a:tc>
              </a:tr>
              <a:tr h="51816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1400"/>
                        <a:t>Масштабирование</a:t>
                      </a:r>
                      <a:endParaRPr lang="en-US" altLang="en-US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1400"/>
                        <a:t>Чаще вертикальное (усиление одного сервера), горизонтальное — сложнее</a:t>
                      </a:r>
                      <a:endParaRPr lang="en-US" altLang="en-US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1400"/>
                        <a:t>Ориентированы на горизонтальное масштабирование (добавление узлов)</a:t>
                      </a:r>
                      <a:endParaRPr lang="en-US" altLang="en-US" sz="1400"/>
                    </a:p>
                  </a:txBody>
                  <a:tcPr/>
                </a:tc>
              </a:tr>
              <a:tr h="73152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1400"/>
                        <a:t>Согласованность данных</a:t>
                      </a:r>
                      <a:endParaRPr lang="en-US" altLang="en-US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1400"/>
                        <a:t>Обычно строгая (ACID: атомарность, согласованность, изолированность, долговечность)</a:t>
                      </a:r>
                      <a:endParaRPr lang="en-US" altLang="en-US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1400"/>
                        <a:t>Часто используют модель BASE (базовая доступность, мягкое состояние, конечная согласованность), допускается временная несогласованность</a:t>
                      </a:r>
                      <a:endParaRPr lang="en-US" altLang="en-US" sz="1400"/>
                    </a:p>
                  </a:txBody>
                  <a:tcPr/>
                </a:tc>
              </a:tr>
              <a:tr h="51816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1400"/>
                        <a:t>Связи между данными</a:t>
                      </a:r>
                      <a:endParaRPr lang="en-US" altLang="en-US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1400"/>
                        <a:t>Реализуются через внешние ключи и JOIN‑запросы</a:t>
                      </a:r>
                      <a:endParaRPr lang="en-US" altLang="en-US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1400"/>
                        <a:t>Связи либо минимизируются, либо моделируются внутри документа/графа; JOIN часто нет или ограничен</a:t>
                      </a:r>
                      <a:endParaRPr lang="en-US" altLang="en-US" sz="1400"/>
                    </a:p>
                  </a:txBody>
                  <a:tcPr/>
                </a:tc>
              </a:tr>
              <a:tr h="51816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1400"/>
                        <a:t>Хранение данных</a:t>
                      </a:r>
                      <a:endParaRPr lang="en-US" altLang="en-US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1400"/>
                        <a:t>Нормализованные таблицы, минимизация дублирования</a:t>
                      </a:r>
                      <a:endParaRPr lang="en-US" altLang="en-US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1400"/>
                        <a:t>Допускается денормализация, дублирование для ускорения чтения</a:t>
                      </a:r>
                      <a:endParaRPr lang="en-US" altLang="en-US" sz="1400"/>
                    </a:p>
                  </a:txBody>
                  <a:tcPr/>
                </a:tc>
              </a:tr>
              <a:tr h="73152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1400"/>
                        <a:t>Типичные сценарии</a:t>
                      </a:r>
                      <a:endParaRPr lang="en-US" altLang="en-US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1400"/>
                        <a:t>Финансовые системы, бухгалтерия, задачи с критичной целостностью данных, сложные отчёты</a:t>
                      </a:r>
                      <a:endParaRPr lang="en-US" altLang="en-US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1400"/>
                        <a:t>Высоконагруженные веб‑ и мобильные приложения, кэширование, аналитика в реальном времени, IoT, контентные платформы</a:t>
                      </a:r>
                      <a:endParaRPr lang="en-US" altLang="en-US" sz="1400"/>
                    </a:p>
                  </a:txBody>
                  <a:tcPr/>
                </a:tc>
              </a:tr>
              <a:tr h="50673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1400"/>
                        <a:t>Примеры СУБД</a:t>
                      </a:r>
                      <a:endParaRPr lang="en-US" altLang="en-US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1400"/>
                        <a:t>PostgreSQL, MySQL, Oracle, SQL Server</a:t>
                      </a:r>
                      <a:endParaRPr lang="en-US" altLang="en-US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1400"/>
                        <a:t>Redis, MongoDB, Cassandra, Neo4j, DynamoDB</a:t>
                      </a:r>
                      <a:endParaRPr lang="en-US" altLang="en-US" sz="1400"/>
                    </a:p>
                  </a:txBody>
                  <a:tcPr/>
                </a:tc>
              </a:tr>
              <a:tr h="73152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1400"/>
                        <a:t>Обработка сложных запросов</a:t>
                      </a:r>
                      <a:endParaRPr lang="en-US" altLang="en-US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1400"/>
                        <a:t>Отлично подходят для сложных аналитических запросов и объединений таблиц</a:t>
                      </a:r>
                      <a:endParaRPr lang="en-US" altLang="en-US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1400"/>
                        <a:t>Оптимизированы под быстрые точечные запросы; сложные аналитические запросы — не всегда сильная сторона</a:t>
                      </a:r>
                      <a:endParaRPr lang="en-US" altLang="en-US" sz="1400"/>
                    </a:p>
                  </a:txBody>
                  <a:tcPr/>
                </a:tc>
              </a:tr>
              <a:tr h="51816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1400"/>
                        <a:t>Изменение схемы</a:t>
                      </a:r>
                      <a:endParaRPr lang="en-US" altLang="en-US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1400"/>
                        <a:t>Требует миграции и может быть трудоёмким</a:t>
                      </a:r>
                      <a:endParaRPr lang="en-US" altLang="en-US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1400"/>
                        <a:t>Гибкое изменение: можно добавлять поля «на лету» без перестройки всей структуры</a:t>
                      </a:r>
                      <a:endParaRPr lang="en-US" altLang="en-US" sz="1400"/>
                    </a:p>
                  </a:txBody>
                  <a:tcPr/>
                </a:tc>
              </a:tr>
            </a:tbl>
          </a:graphicData>
        </a:graphic>
      </p:graphicFrame>
    </p:spTree>
    <p:custDataLst>
      <p:tags r:id="rId2"/>
    </p:custData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rmAutofit fontScale="90000"/>
          </a:bodyPr>
          <a:p>
            <a:r>
              <a:rPr lang="en-US" altLang="en-US"/>
              <a:t>Wide-column: масштабирование и большие объёмы</a:t>
            </a:r>
            <a:endParaRPr lang="en-US" altLang="en-US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pPr marL="0" indent="0">
              <a:buNone/>
            </a:pPr>
            <a:r>
              <a:rPr lang="en-US" altLang="en-US"/>
              <a:t>Wide-column: колоночное хранение и масштабирование</a:t>
            </a:r>
            <a:endParaRPr lang="en-US" altLang="en-US"/>
          </a:p>
          <a:p>
            <a:r>
              <a:rPr lang="en-US" altLang="en-US"/>
              <a:t>Представители: Cassandra, HBase</a:t>
            </a:r>
            <a:endParaRPr lang="en-US" altLang="en-US"/>
          </a:p>
          <a:p>
            <a:r>
              <a:rPr lang="en-US" altLang="en-US"/>
              <a:t>Какие запросы: большие объёмы записи, чтение по ключам строк и колонок</a:t>
            </a:r>
            <a:endParaRPr lang="en-US" altLang="en-US"/>
          </a:p>
          <a:p>
            <a:r>
              <a:rPr lang="en-US" altLang="en-US"/>
              <a:t>Сильная сторона: масштабирование, устойчивость к отказам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Wide-column — это колоночное хранение с особым подходом к ключам и репликации.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Пример структуры (Cassandra):</a:t>
            </a:r>
            <a:endParaRPr lang="en-US" altLang="en-US"/>
          </a:p>
          <a:p>
            <a:pPr marL="0" indent="0">
              <a:buNone/>
            </a:pPr>
            <a:endParaRPr lang="en-US" altLang="en-US"/>
          </a:p>
        </p:txBody>
      </p:sp>
      <p:pic>
        <p:nvPicPr>
          <p:cNvPr id="6" name="Picture 5" descr="Снимок экрана — 2026-09-01 в 18.07.1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365" y="4507865"/>
            <a:ext cx="4203700" cy="2057400"/>
          </a:xfrm>
          <a:prstGeom prst="rect">
            <a:avLst/>
          </a:prstGeom>
        </p:spPr>
      </p:pic>
      <p:sp>
        <p:nvSpPr>
          <p:cNvPr id="7" name="Text Box 6"/>
          <p:cNvSpPr txBox="1"/>
          <p:nvPr/>
        </p:nvSpPr>
        <p:spPr>
          <a:xfrm>
            <a:off x="5615940" y="4508182"/>
            <a:ext cx="5080000" cy="1198880"/>
          </a:xfrm>
          <a:prstGeom prst="rect">
            <a:avLst/>
          </a:prstGeom>
        </p:spPr>
        <p:txBody>
          <a:bodyPr>
            <a:spAutoFit/>
          </a:bodyPr>
          <a:p>
            <a:pPr>
              <a:lnSpc>
                <a:spcPct val="150000"/>
              </a:lnSpc>
            </a:pPr>
            <a:r>
              <a:rPr sz="1600"/>
              <a:t>Это не «таблицы как в SQL». Здесь важна модель ключей и партиционирования. Отлично для логов, телеметрии, IoT.</a:t>
            </a:r>
            <a:endParaRPr sz="1600"/>
          </a:p>
        </p:txBody>
      </p:sp>
    </p:spTree>
    <p:custDataLst>
      <p:tags r:id="rId4"/>
    </p:custData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en-US"/>
              <a:t>Модель ключей в Cassandra</a:t>
            </a:r>
            <a:endParaRPr lang="en-US" altLang="en-US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r>
              <a:rPr lang="en-US" altLang="en-US"/>
              <a:t>Partition key: определяет, на каком узле хранятся данные</a:t>
            </a:r>
            <a:endParaRPr lang="en-US" altLang="en-US"/>
          </a:p>
          <a:p>
            <a:r>
              <a:rPr lang="en-US" altLang="en-US"/>
              <a:t>Clustering key: сортирует строки внутри партиции</a:t>
            </a:r>
            <a:endParaRPr lang="en-US" altLang="en-US"/>
          </a:p>
          <a:p>
            <a:r>
              <a:rPr lang="en-US" altLang="en-US"/>
              <a:t>Ограничения: запросы возможны только по ключам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В Cassandra нельзя делать произвольные запросы — только по ключам.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Пример: PRIMARY KEY (device_id, timestamp) означает, что можно запрашивать по device_id и диапазону timestamp.</a:t>
            </a:r>
            <a:endParaRPr lang="en-US" altLang="en-US"/>
          </a:p>
          <a:p>
            <a:pPr marL="0" indent="457200">
              <a:buNone/>
            </a:pPr>
            <a:r>
              <a:rPr lang="en-US" altLang="en-US"/>
              <a:t>Проектирование ключей — это проектирование запросов. Если запрос не поддерживается моделью ключей, он будет медленным или невозможным.</a:t>
            </a:r>
            <a:endParaRPr lang="en-US" altLang="en-US"/>
          </a:p>
        </p:txBody>
      </p:sp>
    </p:spTree>
    <p:custDataLst>
      <p:tags r:id="rId3"/>
    </p:custData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rmAutofit fontScale="90000"/>
          </a:bodyPr>
          <a:p>
            <a:r>
              <a:rPr lang="en-US" altLang="en-US"/>
              <a:t>Search: полнотекстовый поиск и релевантность</a:t>
            </a:r>
            <a:endParaRPr lang="en-US" altLang="en-US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r>
              <a:rPr lang="en-US" altLang="en-US"/>
              <a:t>Представители: Elasticsearch, OpenSearch</a:t>
            </a:r>
            <a:endParaRPr lang="en-US" altLang="en-US"/>
          </a:p>
          <a:p>
            <a:r>
              <a:rPr lang="en-US" altLang="en-US"/>
              <a:t>Какие запросы: полнотекстовый поиск, ранжирование, фильтры</a:t>
            </a:r>
            <a:endParaRPr lang="en-US" altLang="en-US"/>
          </a:p>
          <a:p>
            <a:r>
              <a:rPr lang="en-US" altLang="en-US"/>
              <a:t>Сильная сторона: поиск по тексту, нечёткость, агрегации для UI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Search-движки строят инвертированные индексы. Они быстро ищут по словам, учитывают опечатки, синонимы, ранжируют по релевантности.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Пример запроса (Elasticsearch DSL):</a:t>
            </a:r>
            <a:endParaRPr lang="en-US" altLang="en-US"/>
          </a:p>
        </p:txBody>
      </p:sp>
      <p:pic>
        <p:nvPicPr>
          <p:cNvPr id="6" name="Picture 5" descr="Снимок экрана — 2026-09-01 в 18.10.4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8385" y="4269740"/>
            <a:ext cx="3242945" cy="2317750"/>
          </a:xfrm>
          <a:prstGeom prst="rect">
            <a:avLst/>
          </a:prstGeom>
        </p:spPr>
      </p:pic>
      <p:sp>
        <p:nvSpPr>
          <p:cNvPr id="7" name="Text Box 6"/>
          <p:cNvSpPr txBox="1"/>
          <p:nvPr/>
        </p:nvSpPr>
        <p:spPr>
          <a:xfrm>
            <a:off x="4686300" y="4585335"/>
            <a:ext cx="7152640" cy="1337945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lnSpc>
                <a:spcPct val="150000"/>
              </a:lnSpc>
            </a:pPr>
            <a:r>
              <a:t>Не используйте реляционные БД для полнотекстового поиска на больших данных. Для этого есть специализированные движки.</a:t>
            </a:r>
          </a:p>
        </p:txBody>
      </p:sp>
    </p:spTree>
    <p:custDataLst>
      <p:tags r:id="rId4"/>
    </p:custData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en-US"/>
              <a:t>Токенизация и анализ текста</a:t>
            </a:r>
            <a:endParaRPr lang="en-US" altLang="en-US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pPr marL="0" indent="0">
              <a:buNone/>
            </a:pPr>
            <a:r>
              <a:rPr lang="en-US" altLang="en-US"/>
              <a:t>Как Search-движки понимают текст</a:t>
            </a:r>
            <a:endParaRPr lang="en-US" altLang="en-US"/>
          </a:p>
          <a:p>
            <a:r>
              <a:rPr lang="en-US" altLang="en-US"/>
              <a:t>Tokenizer: разбивает текст на токены</a:t>
            </a:r>
            <a:endParaRPr lang="en-US" altLang="en-US"/>
          </a:p>
          <a:p>
            <a:r>
              <a:rPr lang="en-US" altLang="en-US"/>
              <a:t>Filters: приводят к нормальной форме (lowercase, stemming)</a:t>
            </a:r>
            <a:endParaRPr lang="en-US" altLang="en-US"/>
          </a:p>
          <a:p>
            <a:r>
              <a:rPr lang="en-US" altLang="en-US"/>
              <a:t>Analyzers: комбинация tokenizer + filters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Качество поиска зависит от того, как текст разбивается и нормализуется.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Пример: Слово «ноутбуки» при stemming превращается в «ноутбук», чтобы совпасть с «ноутбук» в индексе.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Настройка анализаторов — это баланс между точностью и полнотой поиска.</a:t>
            </a:r>
            <a:endParaRPr lang="en-US" altLang="en-US"/>
          </a:p>
          <a:p>
            <a:pPr marL="0" indent="0">
              <a:buNone/>
            </a:pPr>
            <a:endParaRPr lang="en-US" altLang="en-US"/>
          </a:p>
          <a:p>
            <a:pPr marL="0" indent="0">
              <a:buNone/>
            </a:pPr>
            <a:endParaRPr lang="en-US" altLang="en-US"/>
          </a:p>
        </p:txBody>
      </p:sp>
    </p:spTree>
    <p:custDataLst>
      <p:tags r:id="rId3"/>
    </p:custData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en-US"/>
              <a:t>Graph: связи и пути</a:t>
            </a:r>
            <a:endParaRPr lang="en-US" altLang="en-US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pPr marL="0" indent="0">
              <a:buNone/>
            </a:pPr>
            <a:r>
              <a:rPr lang="en-US" altLang="en-US"/>
              <a:t>Graph: узлы, рёбра и пути</a:t>
            </a:r>
            <a:endParaRPr lang="en-US" altLang="en-US"/>
          </a:p>
          <a:p>
            <a:r>
              <a:rPr lang="en-US" altLang="en-US"/>
              <a:t>Представители: Neo4j</a:t>
            </a:r>
            <a:endParaRPr lang="en-US" altLang="en-US"/>
          </a:p>
          <a:p>
            <a:r>
              <a:rPr lang="en-US" altLang="en-US"/>
              <a:t>Какие запросы: связи, пути, рекомендации</a:t>
            </a:r>
            <a:endParaRPr lang="en-US" altLang="en-US"/>
          </a:p>
          <a:p>
            <a:r>
              <a:rPr lang="en-US" altLang="en-US"/>
              <a:t>Сильная сторона: работа со связями, поиск путей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Graph-базы хранят сущности как узлы, а отношения — как рёбра. Это нативно для графов знаний, рекомендаций, антифрода.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Пример запроса (Cypher):</a:t>
            </a:r>
            <a:endParaRPr lang="en-US" altLang="en-US"/>
          </a:p>
        </p:txBody>
      </p:sp>
      <p:pic>
        <p:nvPicPr>
          <p:cNvPr id="6" name="Picture 5" descr="Снимок экрана — 2026-09-01 в 18.17.5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935" y="4862830"/>
            <a:ext cx="5600700" cy="1257300"/>
          </a:xfrm>
          <a:prstGeom prst="rect">
            <a:avLst/>
          </a:prstGeom>
        </p:spPr>
      </p:pic>
      <p:sp>
        <p:nvSpPr>
          <p:cNvPr id="7" name="Text Box 6"/>
          <p:cNvSpPr txBox="1"/>
          <p:nvPr/>
        </p:nvSpPr>
        <p:spPr>
          <a:xfrm>
            <a:off x="6639560" y="4863147"/>
            <a:ext cx="5080000" cy="1337945"/>
          </a:xfrm>
          <a:prstGeom prst="rect">
            <a:avLst/>
          </a:prstGeom>
        </p:spPr>
        <p:txBody>
          <a:bodyPr>
            <a:spAutoFit/>
          </a:bodyPr>
          <a:p>
            <a:pPr>
              <a:lnSpc>
                <a:spcPct val="150000"/>
              </a:lnSpc>
            </a:pPr>
            <a:r>
              <a:t>Graph-базы не заменяют реляционные. Они решают задачи, где важна структура связей, а не просто хранение строк.</a:t>
            </a:r>
          </a:p>
        </p:txBody>
      </p:sp>
    </p:spTree>
    <p:custDataLst>
      <p:tags r:id="rId4"/>
    </p:custData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en-US"/>
              <a:t>Моделирование графа: узлы и рёбра</a:t>
            </a:r>
            <a:endParaRPr lang="en-US" altLang="en-US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pPr marL="0" indent="0">
              <a:buNone/>
            </a:pPr>
            <a:r>
              <a:rPr lang="en-US" altLang="en-US"/>
              <a:t>Проектирование графа: что делать узлами, а что — рёбрами</a:t>
            </a:r>
            <a:endParaRPr lang="en-US" altLang="en-US"/>
          </a:p>
          <a:p>
            <a:r>
              <a:rPr lang="en-US" altLang="en-US"/>
              <a:t>Узлы: сущности (пользователи, товары)</a:t>
            </a:r>
            <a:endParaRPr lang="en-US" altLang="en-US"/>
          </a:p>
          <a:p>
            <a:r>
              <a:rPr lang="en-US" altLang="en-US"/>
              <a:t>Рёбра: отношения (купил, лайкнул, связан с)</a:t>
            </a:r>
            <a:endParaRPr lang="en-US" altLang="en-US"/>
          </a:p>
          <a:p>
            <a:r>
              <a:rPr lang="en-US" altLang="en-US"/>
              <a:t>Свойства: атрибуты узлов и рёбер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От выбора, что сделать узлом, а что — ребром, зависит удобство запросов.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Пример: Отношение «купил» — это ребро между User и Product, а не отдельный узел.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Избыточное создание узлов усложняет запросы и увеличивает размер графа.</a:t>
            </a:r>
            <a:endParaRPr lang="en-US" altLang="en-US"/>
          </a:p>
        </p:txBody>
      </p:sp>
    </p:spTree>
    <p:custDataLst>
      <p:tags r:id="rId3"/>
    </p:custData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en-US"/>
              <a:t>Аналитические СУБД: агрегаты и отчёты</a:t>
            </a:r>
            <a:endParaRPr lang="en-US" altLang="en-US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r>
              <a:rPr lang="en-US" altLang="en-US"/>
              <a:t>Представители: ClickHouse, Vertica, BigQuery</a:t>
            </a:r>
            <a:endParaRPr lang="en-US" altLang="en-US"/>
          </a:p>
          <a:p>
            <a:r>
              <a:rPr lang="en-US" altLang="en-US"/>
              <a:t>Какие запросы: агрегаты, отчёты, группировка</a:t>
            </a:r>
            <a:endParaRPr lang="en-US" altLang="en-US"/>
          </a:p>
          <a:p>
            <a:r>
              <a:rPr lang="en-US" altLang="en-US"/>
              <a:t>Сильная сторона: аналитика по огромным данным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OLAP-базы оптимизированы под тяжёлые чтения и быстрые агрегаты по миллиардам строк.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Пример запроса (ClickHouse):</a:t>
            </a:r>
            <a:endParaRPr lang="en-US" altLang="en-US"/>
          </a:p>
        </p:txBody>
      </p:sp>
      <p:pic>
        <p:nvPicPr>
          <p:cNvPr id="6" name="Picture 5" descr="Снимок экрана — 2026-09-01 в 18.20.3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330" y="4375150"/>
            <a:ext cx="4737100" cy="2070100"/>
          </a:xfrm>
          <a:prstGeom prst="rect">
            <a:avLst/>
          </a:prstGeom>
        </p:spPr>
      </p:pic>
      <p:sp>
        <p:nvSpPr>
          <p:cNvPr id="7" name="Text Box 6"/>
          <p:cNvSpPr txBox="1"/>
          <p:nvPr/>
        </p:nvSpPr>
        <p:spPr>
          <a:xfrm>
            <a:off x="5894070" y="4375150"/>
            <a:ext cx="5781675" cy="1337945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lnSpc>
                <a:spcPct val="150000"/>
              </a:lnSpc>
            </a:pPr>
            <a:r>
              <a:t>Такие базы используют колоночное хранение и сжатие. Они плохо подходят для частых мелких записей, но отлично считают агрегаты.</a:t>
            </a:r>
          </a:p>
        </p:txBody>
      </p:sp>
    </p:spTree>
    <p:custDataLst>
      <p:tags r:id="rId4"/>
    </p:custData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5" name="Content Placeholder 4"/>
          <p:cNvGraphicFramePr/>
          <p:nvPr>
            <p:ph sz="quarter" idx="13"/>
            <p:custDataLst>
              <p:tags r:id="rId1"/>
            </p:custDataLst>
          </p:nvPr>
        </p:nvGraphicFramePr>
        <p:xfrm>
          <a:off x="0" y="167640"/>
          <a:ext cx="12077065" cy="6477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0865"/>
                <a:gridCol w="1586865"/>
                <a:gridCol w="3044825"/>
                <a:gridCol w="5604510"/>
              </a:tblGrid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/>
                        <a:t>СУБД</a:t>
                      </a:r>
                      <a:endParaRPr lang="en-US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/>
                        <a:t>Тип</a:t>
                      </a:r>
                      <a:endParaRPr lang="en-US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/>
                        <a:t>Где чаще применяют</a:t>
                      </a:r>
                      <a:endParaRPr lang="en-US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/>
                        <a:t>Примеры приложений</a:t>
                      </a:r>
                      <a:endParaRPr lang="en-US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1400"/>
                        <a:t>ClickHouse</a:t>
                      </a:r>
                      <a:endParaRPr lang="en-US" altLang="en-US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1400"/>
                        <a:t>Колоночная</a:t>
                      </a:r>
                      <a:endParaRPr lang="en-US" altLang="en-US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1400"/>
                        <a:t>Веб‑аналитика, логи, событийные данные, продуктовая аналитика</a:t>
                      </a:r>
                      <a:endParaRPr lang="en-US" altLang="en-US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1400"/>
                        <a:t>• Дашборды посещаемости сайтов и конверсий в реальном времени</a:t>
                      </a:r>
                      <a:endParaRPr lang="en-US" altLang="en-US" sz="1400"/>
                    </a:p>
                    <a:p>
                      <a:pPr>
                        <a:buNone/>
                      </a:pPr>
                      <a:r>
                        <a:rPr lang="en-US" altLang="en-US" sz="1400"/>
                        <a:t>• Анализ логов микросервисов (ошибки, latency, RPS)</a:t>
                      </a:r>
                      <a:endParaRPr lang="en-US" altLang="en-US" sz="1400"/>
                    </a:p>
                    <a:p>
                      <a:pPr>
                        <a:buNone/>
                      </a:pPr>
                      <a:r>
                        <a:rPr lang="en-US" altLang="en-US" sz="1400"/>
                        <a:t>• Отчётность по событиям в мобильных приложениях (клики, просмотры, покупки)</a:t>
                      </a:r>
                      <a:endParaRPr lang="en-US" altLang="en-US" sz="1400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1400"/>
                        <a:t>Vertica / Snowflake / BigQuery</a:t>
                      </a:r>
                      <a:endParaRPr lang="en-US" altLang="en-US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1400"/>
                        <a:t>Колоночные / облачные DWH</a:t>
                      </a:r>
                      <a:endParaRPr lang="en-US" altLang="en-US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1400"/>
                        <a:t>Корпоративная аналитика, витрины, отчётность</a:t>
                      </a:r>
                      <a:endParaRPr lang="en-US" altLang="en-US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1400"/>
                        <a:t>• Консолидированная отчётность холдинга (выручка, маржа, затраты по филиалам)</a:t>
                      </a:r>
                      <a:endParaRPr lang="en-US" altLang="en-US" sz="1400"/>
                    </a:p>
                    <a:p>
                      <a:pPr>
                        <a:buNone/>
                      </a:pPr>
                      <a:r>
                        <a:rPr lang="en-US" altLang="en-US" sz="1400"/>
                        <a:t>• Сегментный анализ клиентов (RFM, LTV)</a:t>
                      </a:r>
                      <a:endParaRPr lang="en-US" altLang="en-US" sz="1400"/>
                    </a:p>
                    <a:p>
                      <a:pPr>
                        <a:buNone/>
                      </a:pPr>
                      <a:r>
                        <a:rPr lang="en-US" altLang="en-US" sz="1400"/>
                        <a:t>• Аналитика маркетинговых кампаний (ROI по каналам, CAC)</a:t>
                      </a:r>
                      <a:endParaRPr lang="en-US" altLang="en-US" sz="1400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1400"/>
                        <a:t>Microsoft Analysis Services (SSAS)</a:t>
                      </a:r>
                      <a:endParaRPr lang="en-US" altLang="en-US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1400"/>
                        <a:t>MOLAP/ROLAP</a:t>
                      </a:r>
                      <a:endParaRPr lang="en-US" altLang="en-US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1400"/>
                        <a:t>Финансовое планирование, управленческие отчёты, Excel‑сводные таблицы</a:t>
                      </a:r>
                      <a:endParaRPr lang="en-US" altLang="en-US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1400"/>
                        <a:t>• Бюджетирование и план‑факт анализ по ЦФО</a:t>
                      </a:r>
                      <a:endParaRPr lang="en-US" altLang="en-US" sz="1400"/>
                    </a:p>
                    <a:p>
                      <a:pPr>
                        <a:buNone/>
                      </a:pPr>
                      <a:r>
                        <a:rPr lang="en-US" altLang="en-US" sz="1400"/>
                        <a:t>• Управленческие отчёты для топ‑менеджмента (P&amp;L, KPI)</a:t>
                      </a:r>
                      <a:endParaRPr lang="en-US" altLang="en-US" sz="1400"/>
                    </a:p>
                    <a:p>
                      <a:pPr>
                        <a:buNone/>
                      </a:pPr>
                      <a:r>
                        <a:rPr lang="en-US" altLang="en-US" sz="1400"/>
                        <a:t>• Сводные Excel‑отчёты с детализацией «до документа» через сводные таблицы</a:t>
                      </a:r>
                      <a:endParaRPr lang="en-US" altLang="en-US" sz="1400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1400"/>
                        <a:t>Oracle Essbase</a:t>
                      </a:r>
                      <a:endParaRPr lang="en-US" altLang="en-US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1400"/>
                        <a:t>Многомерная (MOLAP)</a:t>
                      </a:r>
                      <a:endParaRPr lang="en-US" altLang="en-US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1400"/>
                        <a:t>Бюджетирование, консолидация, «что‑если» модели</a:t>
                      </a:r>
                      <a:endParaRPr lang="en-US" altLang="en-US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1400"/>
                        <a:t>• Моделирование сценариев («если поднять цены на 5 %»)</a:t>
                      </a:r>
                      <a:endParaRPr lang="en-US" altLang="en-US" sz="1400"/>
                    </a:p>
                    <a:p>
                      <a:pPr>
                        <a:buNone/>
                      </a:pPr>
                      <a:r>
                        <a:rPr lang="en-US" altLang="en-US" sz="1400"/>
                        <a:t>• Консолидация отчётности по МСФО</a:t>
                      </a:r>
                      <a:endParaRPr lang="en-US" altLang="en-US" sz="1400"/>
                    </a:p>
                    <a:p>
                      <a:pPr>
                        <a:buNone/>
                      </a:pPr>
                      <a:r>
                        <a:rPr lang="en-US" altLang="en-US" sz="1400"/>
                        <a:t>• Планирование по статьям затрат с распределением по периодам</a:t>
                      </a:r>
                      <a:endParaRPr lang="en-US" altLang="en-US" sz="1400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1400"/>
                        <a:t>Greenplum / PostgreSQL (с витринами)</a:t>
                      </a:r>
                      <a:endParaRPr lang="en-US" altLang="en-US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1400"/>
                        <a:t>ROLAP</a:t>
                      </a:r>
                      <a:endParaRPr lang="en-US" altLang="en-US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1400"/>
                        <a:t>Аналитические витрины, отчёты по продажам, логистике</a:t>
                      </a:r>
                      <a:endParaRPr lang="en-US" altLang="en-US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1400"/>
                        <a:t>• Отчёты по продажам и оборачиваемости товаров</a:t>
                      </a:r>
                      <a:endParaRPr lang="en-US" altLang="en-US" sz="1400"/>
                    </a:p>
                    <a:p>
                      <a:pPr>
                        <a:buNone/>
                      </a:pPr>
                      <a:r>
                        <a:rPr lang="en-US" altLang="en-US" sz="1400"/>
                        <a:t>• Логистическая аналитика (остатки, поставки, сроки годности)</a:t>
                      </a:r>
                      <a:endParaRPr lang="en-US" altLang="en-US" sz="1400"/>
                    </a:p>
                    <a:p>
                      <a:pPr>
                        <a:buNone/>
                      </a:pPr>
                      <a:r>
                        <a:rPr lang="en-US" altLang="en-US" sz="1400"/>
                        <a:t>• Витрины для BI‑систем (Power BI, Superset) с регулярным пересчётом агрегатов</a:t>
                      </a:r>
                      <a:endParaRPr lang="en-US" altLang="en-US" sz="1400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1400"/>
                        <a:t>Apache Druid / Pinot</a:t>
                      </a:r>
                      <a:endParaRPr lang="en-US" altLang="en-US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1400"/>
                        <a:t>Event‑OLAP / time‑series</a:t>
                      </a:r>
                      <a:endParaRPr lang="en-US" altLang="en-US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1400"/>
                        <a:t>Аналитика в реальном времени, дашборды по событиям</a:t>
                      </a:r>
                      <a:endParaRPr lang="en-US" altLang="en-US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1400"/>
                        <a:t>• Мониторинг метрик сервисов (CPU, latency, ошибки) с агрегацией по минутам</a:t>
                      </a:r>
                      <a:endParaRPr lang="en-US" altLang="en-US" sz="1400"/>
                    </a:p>
                    <a:p>
                      <a:pPr>
                        <a:buNone/>
                      </a:pPr>
                      <a:r>
                        <a:rPr lang="en-US" altLang="en-US" sz="1400"/>
                        <a:t>• Аналитика кликов и показов в рекламных системах</a:t>
                      </a:r>
                      <a:endParaRPr lang="en-US" altLang="en-US" sz="1400"/>
                    </a:p>
                    <a:p>
                      <a:pPr>
                        <a:buNone/>
                      </a:pPr>
                      <a:r>
                        <a:rPr lang="en-US" altLang="en-US" sz="1400"/>
                        <a:t>• Оперативные дашборды для техподдержки (алерты, инциденты)</a:t>
                      </a:r>
                      <a:endParaRPr lang="en-US" altLang="en-US" sz="1400"/>
                    </a:p>
                  </a:txBody>
                  <a:tcPr/>
                </a:tc>
              </a:tr>
            </a:tbl>
          </a:graphicData>
        </a:graphic>
      </p:graphicFrame>
    </p:spTree>
    <p:custDataLst>
      <p:tags r:id="rId2"/>
    </p:custData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rmAutofit fontScale="90000"/>
          </a:bodyPr>
          <a:p>
            <a:r>
              <a:rPr lang="en-US" altLang="en-US"/>
              <a:t>Колоночное хранение: почему это быстро для аналитики</a:t>
            </a:r>
            <a:br>
              <a:rPr lang="en-US" altLang="en-US"/>
            </a:br>
            <a:endParaRPr lang="en-US" altLang="en-US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r>
              <a:rPr lang="en-US" altLang="en-US"/>
              <a:t>Данные хранятся по колонкам, а не по строкам</a:t>
            </a:r>
            <a:endParaRPr lang="en-US" altLang="en-US"/>
          </a:p>
          <a:p>
            <a:r>
              <a:rPr lang="en-US" altLang="en-US"/>
              <a:t>Эффективное сжатие похожих значений в колонке</a:t>
            </a:r>
            <a:endParaRPr lang="en-US" altLang="en-US"/>
          </a:p>
          <a:p>
            <a:r>
              <a:rPr lang="en-US" altLang="en-US"/>
              <a:t>Быстрый доступ к нужным колонкам при агрегации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Колоночное хранение идеально для аналитики, где читают не все колонки сразу.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Пример: При подсчёте суммы по колонке «amount» система читает только эту колонку, а не всю строку.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Для транзакционных нагрузок (где читают целые строки) колоночное хранение менее эффективно.</a:t>
            </a:r>
            <a:endParaRPr lang="en-US" altLang="en-US"/>
          </a:p>
        </p:txBody>
      </p:sp>
    </p:spTree>
    <p:custDataLst>
      <p:tags r:id="rId3"/>
    </p:custData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277565"/>
            <a:ext cx="10969200" cy="705600"/>
          </a:xfrm>
        </p:spPr>
        <p:txBody>
          <a:bodyPr>
            <a:normAutofit fontScale="90000"/>
          </a:bodyPr>
          <a:p>
            <a:r>
              <a:rPr lang="en-US" altLang="en-US"/>
              <a:t>Источник истины, кэш, производная витрина</a:t>
            </a:r>
            <a:endParaRPr lang="en-US" altLang="en-US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278765" y="982980"/>
            <a:ext cx="11726545" cy="5552440"/>
          </a:xfrm>
        </p:spPr>
        <p:txBody>
          <a:bodyPr>
            <a:noAutofit/>
          </a:bodyPr>
          <a:p>
            <a:pPr marL="0" indent="0">
              <a:buNone/>
            </a:pPr>
            <a:r>
              <a:rPr lang="en-US" altLang="en-US" sz="1500"/>
              <a:t>Три роли данных в архитектуре</a:t>
            </a:r>
            <a:endParaRPr lang="en-US" altLang="en-US" sz="1500"/>
          </a:p>
          <a:p>
            <a:r>
              <a:rPr lang="en-US" altLang="en-US" sz="1500"/>
              <a:t>Источник истины (source of truth): основное хранилище, где данные создаются и обновляются (обычно OLTP)</a:t>
            </a:r>
            <a:endParaRPr lang="en-US" altLang="en-US" sz="1500"/>
          </a:p>
          <a:p>
            <a:r>
              <a:rPr lang="en-US" altLang="en-US" sz="1500"/>
              <a:t>Кэш: временное, быстрое хранилище для ускорения чтения (Redis, in-memory)</a:t>
            </a:r>
            <a:endParaRPr lang="en-US" altLang="en-US" sz="1500"/>
          </a:p>
          <a:p>
            <a:r>
              <a:rPr lang="en-US" altLang="en-US" sz="1500"/>
              <a:t>Производные витрины: данные, подготовленные для отчётов/аналитики (часто в OLAP или отдельной схеме)</a:t>
            </a:r>
            <a:endParaRPr lang="en-US" altLang="en-US" sz="1500"/>
          </a:p>
          <a:p>
            <a:pPr marL="0" indent="0">
              <a:buNone/>
            </a:pPr>
            <a:r>
              <a:rPr lang="en-US" altLang="en-US" sz="1500"/>
              <a:t>Важно чётко определить, какая система является источником истины. Это предотвращает рассинхронизацию и ошибки.</a:t>
            </a:r>
            <a:endParaRPr lang="en-US" altLang="en-US" sz="1500"/>
          </a:p>
          <a:p>
            <a:pPr marL="0" indent="0">
              <a:buNone/>
            </a:pPr>
            <a:r>
              <a:rPr lang="en-US" altLang="en-US" sz="1500"/>
              <a:t>Пример архитектуры:</a:t>
            </a:r>
            <a:r>
              <a:rPr lang="ru-RU" altLang="en-US" sz="1500"/>
              <a:t> </a:t>
            </a:r>
            <a:endParaRPr lang="ru-RU" altLang="en-US" sz="1500"/>
          </a:p>
          <a:p>
            <a:pPr marL="342900" indent="-342900">
              <a:buFont typeface="+mj-lt"/>
              <a:buAutoNum type="arabicPeriod"/>
            </a:pPr>
            <a:r>
              <a:rPr lang="en-US" altLang="en-US" sz="1500"/>
              <a:t>Пользователь обновляет профиль → запись в PostgreSQL (источник истины).</a:t>
            </a:r>
            <a:endParaRPr lang="en-US" altLang="en-US" sz="1500"/>
          </a:p>
          <a:p>
            <a:pPr marL="342900" indent="-342900">
              <a:buFont typeface="+mj-lt"/>
              <a:buAutoNum type="arabicPeriod"/>
            </a:pPr>
            <a:r>
              <a:rPr lang="en-US" altLang="en-US" sz="1500"/>
              <a:t>Профиль кэшируется в Redis с TTL 15 минут.</a:t>
            </a:r>
            <a:endParaRPr lang="en-US" altLang="en-US" sz="1500"/>
          </a:p>
          <a:p>
            <a:pPr marL="342900" indent="-342900">
              <a:buFont typeface="+mj-lt"/>
              <a:buAutoNum type="arabicPeriod"/>
            </a:pPr>
            <a:r>
              <a:rPr lang="en-US" altLang="en-US" sz="1500"/>
              <a:t>Данные о действиях пользователя попадают в ClickHouse для отчётов.</a:t>
            </a:r>
            <a:endParaRPr lang="en-US" altLang="en-US" sz="1500"/>
          </a:p>
          <a:p>
            <a:pPr marL="0" indent="0">
              <a:buNone/>
            </a:pPr>
            <a:r>
              <a:rPr lang="en-US" altLang="en-US" sz="1500"/>
              <a:t>Дублирование данных — это нормально, если есть чёткая стратегия: что является источником, как и когда данные синхронизируются.</a:t>
            </a:r>
            <a:endParaRPr lang="en-US" altLang="en-US" sz="1500"/>
          </a:p>
        </p:txBody>
      </p:sp>
    </p:spTree>
    <p:custDataLst>
      <p:tags r:id="rId3"/>
    </p:custData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en-US"/>
              <a:t>Партиционирование в OLTP и OLAP</a:t>
            </a:r>
            <a:endParaRPr lang="en-US" altLang="en-US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pPr marL="0" indent="0">
              <a:buNone/>
            </a:pPr>
            <a:r>
              <a:rPr lang="en-US" altLang="en-US"/>
              <a:t>Партиционирование: деление таблиц для производительности</a:t>
            </a:r>
            <a:endParaRPr lang="en-US" altLang="en-US"/>
          </a:p>
          <a:p>
            <a:r>
              <a:rPr lang="en-US" altLang="en-US"/>
              <a:t>По времени: логи/события по дням/месяцам</a:t>
            </a:r>
            <a:endParaRPr lang="en-US" altLang="en-US"/>
          </a:p>
          <a:p>
            <a:r>
              <a:rPr lang="en-US" altLang="en-US"/>
              <a:t>По диапазону ID: пользователи по диапазонам</a:t>
            </a:r>
            <a:endParaRPr lang="en-US" altLang="en-US"/>
          </a:p>
          <a:p>
            <a:r>
              <a:rPr lang="en-US" altLang="en-US"/>
              <a:t>По хэшу: равномерное распределение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Партиционирование ускоряет запросы и упрощает удаление старых данных.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Пример: Таблица событий партиционирована по дням: удаление данных старше года — это просто DROP PARTITION.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В OLAP партиционирование критично для скорости агрегатов; в OLTP — для управления объёмом и ускорения выборок.</a:t>
            </a:r>
            <a:endParaRPr lang="en-US" altLang="en-US"/>
          </a:p>
        </p:txBody>
      </p:sp>
    </p:spTree>
    <p:custDataLst>
      <p:tags r:id="rId3"/>
    </p:custData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en-US"/>
              <a:t>Компромиссы при проектировании схемы</a:t>
            </a:r>
            <a:endParaRPr lang="en-US" altLang="en-US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pPr marL="0" indent="0">
              <a:buNone/>
            </a:pPr>
            <a:r>
              <a:rPr lang="en-US" altLang="en-US"/>
              <a:t>Компромиссы: что мы теряем, выбирая ту или иную модель</a:t>
            </a:r>
            <a:endParaRPr lang="en-US" altLang="en-US"/>
          </a:p>
          <a:p>
            <a:r>
              <a:rPr lang="en-US" altLang="en-US"/>
              <a:t>Скорость vs целостность: Redis vs PostgreSQL</a:t>
            </a:r>
            <a:endParaRPr lang="en-US" altLang="en-US"/>
          </a:p>
          <a:p>
            <a:r>
              <a:rPr lang="en-US" altLang="en-US"/>
              <a:t>Гибкость vs контроль: MongoDB vs SQL</a:t>
            </a:r>
            <a:endParaRPr lang="en-US" altLang="en-US"/>
          </a:p>
          <a:p>
            <a:r>
              <a:rPr lang="en-US" altLang="en-US"/>
              <a:t>Масштабируемость vs простота запросов: Cassandra vs MySQL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В архитектуре почти всегда есть компромиссы.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Пример: Для каталога товаров можно выбрать MongoDB (гибкость) или PostgreSQL (контроль и JOIN).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Хороший архитектор заранее формулирует, чем он готов пожертвовать, и документирует это.</a:t>
            </a:r>
            <a:endParaRPr lang="en-US" altLang="en-US"/>
          </a:p>
        </p:txBody>
      </p:sp>
    </p:spTree>
    <p:custDataLst>
      <p:tags r:id="rId3"/>
    </p:custData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en-US"/>
              <a:t> Итоги и выводы</a:t>
            </a:r>
            <a:endParaRPr lang="en-US" altLang="en-US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r>
              <a:rPr lang="en-US" altLang="en-US"/>
              <a:t>Нет «лучшей» базы данных — есть «лучшая под задачу»</a:t>
            </a:r>
            <a:endParaRPr lang="en-US" altLang="en-US"/>
          </a:p>
          <a:p>
            <a:r>
              <a:rPr lang="en-US" altLang="en-US"/>
              <a:t>Выбор определяется профилем нагрузки, требованиями к консистентности и задержкам</a:t>
            </a:r>
            <a:endParaRPr lang="en-US" altLang="en-US"/>
          </a:p>
          <a:p>
            <a:r>
              <a:rPr lang="en-US" altLang="en-US"/>
              <a:t>В реальных системах используют комбинацию хранилищ</a:t>
            </a:r>
            <a:endParaRPr lang="en-US" altLang="en-US"/>
          </a:p>
          <a:p>
            <a:r>
              <a:rPr lang="en-US" altLang="en-US"/>
              <a:t>Критически важно определить источник истины и стратегию синхронизации</a:t>
            </a:r>
            <a:endParaRPr lang="en-US" altLang="en-US"/>
          </a:p>
          <a:p>
            <a:r>
              <a:rPr lang="en-US" altLang="en-US"/>
              <a:t>Качество, безопасность и управление данными — неотъемлемая часть архитектуры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Архитектурное мышление — это умение сопоставлять требования с возможностями технологий и осознанно принимать компромиссы.</a:t>
            </a:r>
            <a:endParaRPr lang="en-US" altLang="en-US"/>
          </a:p>
        </p:txBody>
      </p:sp>
    </p:spTree>
    <p:custDataLst>
      <p:tags r:id="rId3"/>
    </p:custData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p>
            <a:r>
              <a:rPr lang="ru-RU" altLang="en-US"/>
              <a:t>Домашняя работа</a:t>
            </a:r>
            <a:endParaRPr lang="ru-RU" altLang="en-US"/>
          </a:p>
        </p:txBody>
      </p:sp>
    </p:spTree>
    <p:custDataLst>
      <p:tags r:id="rId2"/>
    </p:custData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p>
            <a:r>
              <a:rPr lang="ru-RU" altLang="en-US"/>
              <a:t>Практическая работа</a:t>
            </a:r>
            <a:endParaRPr lang="ru-RU" altLang="en-US"/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/>
        <p:txBody>
          <a:bodyPr/>
          <a:p>
            <a:r>
              <a:rPr lang="en-US" altLang="en-US"/>
              <a:t>Data Placement Map</a:t>
            </a:r>
            <a:endParaRPr lang="en-US" altLang="en-US"/>
          </a:p>
        </p:txBody>
      </p:sp>
    </p:spTree>
    <p:custDataLst>
      <p:tags r:id="rId3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1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1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24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125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126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081_1*b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127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30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33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3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3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41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43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4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49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52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55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5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60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62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65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6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71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7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  <p:tag name="TABLE_ENDDRAG_ORIGIN_RECT" val="930*504"/>
  <p:tag name="TABLE_ENDDRAG_RECT" val="18*0*930*504"/>
</p:tagLst>
</file>

<file path=ppt/tags/tag17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79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82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85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8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91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9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9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  <p:tag name="TABLE_ENDDRAG_ORIGIN_RECT" val="950*526"/>
  <p:tag name="TABLE_ENDDRAG_RECT" val="0*13*950*526"/>
</p:tagLst>
</file>

<file path=ppt/tags/tag199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2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02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2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05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2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0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2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11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2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1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2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1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2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19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Helvetica Neue"/>
        <a:ea typeface=""/>
        <a:cs typeface=""/>
        <a:font script="Jpan" typeface="BIZ UDMincho"/>
        <a:font script="Hang" typeface="맑은 고딕"/>
        <a:font script="Hans" typeface="等线 Light"/>
        <a:font script="Hant" typeface="微軟正黑體"/>
        <a:font script="Arab" typeface="Geeza Pro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Helvetica Neue"/>
        <a:ea typeface=""/>
        <a:cs typeface=""/>
        <a:font script="Jpan" typeface="BIZ UDMincho"/>
        <a:font script="Hang" typeface="맑은 고딕"/>
        <a:font script="Hans" typeface="等线"/>
        <a:font script="Hant" typeface="微軟正黑體"/>
        <a:font script="Arab" typeface="Geeza Pro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Helvetica Neue"/>
        <a:ea typeface=""/>
        <a:cs typeface=""/>
        <a:font script="Jpan" typeface="BIZ UDMincho"/>
        <a:font script="Hang" typeface="맑은 고딕"/>
        <a:font script="Hans" typeface="等线 Light"/>
        <a:font script="Hant" typeface="微軟正黑體"/>
        <a:font script="Arab" typeface="Geeza Pro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Helvetica Neue"/>
        <a:ea typeface=""/>
        <a:cs typeface=""/>
        <a:font script="Jpan" typeface="BIZ UDMincho"/>
        <a:font script="Hang" typeface="맑은 고딕"/>
        <a:font script="Hans" typeface="等线"/>
        <a:font script="Hant" typeface="微軟正黑體"/>
        <a:font script="Arab" typeface="Geeza Pro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18122</Words>
  <Application>WPS Docs</Application>
  <PresentationFormat>Widescreen</PresentationFormat>
  <Paragraphs>455</Paragraphs>
  <Slides>34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34</vt:i4>
      </vt:variant>
    </vt:vector>
  </HeadingPairs>
  <TitlesOfParts>
    <vt:vector size="47" baseType="lpstr">
      <vt:lpstr>Arial</vt:lpstr>
      <vt:lpstr>SimSun</vt:lpstr>
      <vt:lpstr>Wingdings</vt:lpstr>
      <vt:lpstr>Wingdings</vt:lpstr>
      <vt:lpstr>Helvetica Neue Bold</vt:lpstr>
      <vt:lpstr>Helvetica Neue</vt:lpstr>
      <vt:lpstr>Microsoft YaHei</vt:lpstr>
      <vt:lpstr>汉仪旗黑</vt:lpstr>
      <vt:lpstr>Arial Unicode MS</vt:lpstr>
      <vt:lpstr>Calibri</vt:lpstr>
      <vt:lpstr>宋体-简</vt:lpstr>
      <vt:lpstr>WPS</vt:lpstr>
      <vt:lpstr>1_WPS</vt:lpstr>
      <vt:lpstr>Архитектура систем хранения</vt:lpstr>
      <vt:lpstr>Классификация хранилищ и принципы выбора</vt:lpstr>
      <vt:lpstr>Зачем столько видов хранилищ</vt:lpstr>
      <vt:lpstr>Базовые понятия: таблица, документ, событие, транзакция</vt:lpstr>
      <vt:lpstr>PowerPoint 演示文稿</vt:lpstr>
      <vt:lpstr>OLTP vs OLAP: два мира</vt:lpstr>
      <vt:lpstr>PowerPoint 演示文稿</vt:lpstr>
      <vt:lpstr>ACID: что это и зачем</vt:lpstr>
      <vt:lpstr>CAP-теорема: компромисс в распределённых системах</vt:lpstr>
      <vt:lpstr>Реляционные СУБД: целостность и связи</vt:lpstr>
      <vt:lpstr>Нормализация: зачем и как</vt:lpstr>
      <vt:lpstr>Индексы: ускорение поиска</vt:lpstr>
      <vt:lpstr>PowerPoint 演示文稿</vt:lpstr>
      <vt:lpstr>PowerPoint 演示文稿</vt:lpstr>
      <vt:lpstr>Key-value: скорость и простота</vt:lpstr>
      <vt:lpstr>Типы данных и структуры в Redis</vt:lpstr>
      <vt:lpstr>Document: гибкая схема и вложенность</vt:lpstr>
      <vt:lpstr>NoSQL</vt:lpstr>
      <vt:lpstr>PowerPoint 演示文稿</vt:lpstr>
      <vt:lpstr>Wide-column: масштабирование и большие объёмы</vt:lpstr>
      <vt:lpstr>Модель ключей в Cassandra</vt:lpstr>
      <vt:lpstr>Search: полнотекстовый поиск и релевантность</vt:lpstr>
      <vt:lpstr>Токенизация и анализ текста</vt:lpstr>
      <vt:lpstr>Graph: связи и пути</vt:lpstr>
      <vt:lpstr>Моделирование графа: узлы и рёбра</vt:lpstr>
      <vt:lpstr>Аналитические СУБД: агрегаты и отчёты</vt:lpstr>
      <vt:lpstr>PowerPoint 演示文稿</vt:lpstr>
      <vt:lpstr>Колоночное хранение: почему это быстро для аналитики </vt:lpstr>
      <vt:lpstr>Источник истины, кэш, производная витрина</vt:lpstr>
      <vt:lpstr>Партиционирование в OLTP и OLAP</vt:lpstr>
      <vt:lpstr>Компромиссы при проектировании схемы</vt:lpstr>
      <vt:lpstr> Итоги и выводы</vt:lpstr>
      <vt:lpstr>PowerPoint 演示文稿</vt:lpstr>
      <vt:lpstr>Практическая работа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Архитектура систем хранения</dc:title>
  <dc:creator>oksanaroslova</dc:creator>
  <cp:lastModifiedBy>Oksana Roslova</cp:lastModifiedBy>
  <cp:revision>67</cp:revision>
  <dcterms:created xsi:type="dcterms:W3CDTF">2026-09-01T20:08:20Z</dcterms:created>
  <dcterms:modified xsi:type="dcterms:W3CDTF">2026-09-01T20:08:20Z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1033-12.1.26050.26050</vt:lpwstr>
  </property>
  <property fmtid="{D5CDD505-2E9C-101B-9397-08002B2CF9AE}" pid="3" name="ICV">
    <vt:lpwstr>55D4014A92B618AEB430976AFAA2BD7E_43</vt:lpwstr>
  </property>
</Properties>
</file>