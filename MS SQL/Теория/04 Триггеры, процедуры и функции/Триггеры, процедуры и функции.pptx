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6" r:id="rId47"/>
    <p:sldId id="305" r:id="rId48"/>
    <p:sldId id="307" r:id="rId49"/>
    <p:sldId id="308" r:id="rId50"/>
    <p:sldId id="309" r:id="rId51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2630805"/>
            <a:ext cx="9799200" cy="2570400"/>
          </a:xfrm>
        </p:spPr>
        <p:txBody>
          <a:bodyPr>
            <a:normAutofit fontScale="90000"/>
          </a:bodyPr>
          <a:p>
            <a:r>
              <a:rPr lang="ru-RU" altLang="en-US"/>
              <a:t>Триггеры, хранимые процедуры и пользовательские функции</a:t>
            </a:r>
            <a:endParaRPr lang="ru-RU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(</a:t>
            </a:r>
            <a:r>
              <a:rPr lang="lv-LV" dirty="0" err="1"/>
              <a:t>Triggers</a:t>
            </a:r>
            <a:r>
              <a:rPr lang="lv-LV" dirty="0"/>
              <a:t>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Триггер — это </a:t>
            </a:r>
            <a:r>
              <a:rPr lang="ru-RU" b="1" dirty="0"/>
              <a:t>специальная хранимая процедура</a:t>
            </a:r>
            <a:r>
              <a:rPr lang="ru-RU" dirty="0"/>
              <a:t>, которая автоматически выполняется при изменении данных в таблице или представлении. Он </a:t>
            </a:r>
            <a:r>
              <a:rPr lang="ru-RU" b="1" dirty="0"/>
              <a:t>не вызывается напрямую</a:t>
            </a:r>
            <a:r>
              <a:rPr lang="ru-RU" dirty="0"/>
              <a:t>, а срабатывает при определенном событии: </a:t>
            </a:r>
            <a:r>
              <a:rPr lang="lv-LV" dirty="0"/>
              <a:t>INSERT, UPDATE</a:t>
            </a:r>
            <a:r>
              <a:rPr lang="ru-RU" dirty="0"/>
              <a:t>, </a:t>
            </a:r>
            <a:r>
              <a:rPr lang="lv-LV" dirty="0"/>
              <a:t>DELETE</a:t>
            </a:r>
            <a:r>
              <a:rPr lang="ru-RU" dirty="0"/>
              <a:t> или др.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latin typeface="Helvetica Neue Bold" panose="02000503000000020004" charset="0"/>
                <a:cs typeface="Helvetica Neue Bold" panose="02000503000000020004" charset="0"/>
                <a:sym typeface="+mn-ea"/>
              </a:rPr>
              <a:t>Типы триггеров</a:t>
            </a:r>
            <a:r>
              <a:rPr lang="ru-RU" b="1" dirty="0">
                <a:latin typeface="Helvetica Neue Bold" panose="02000503000000020004" charset="0"/>
                <a:cs typeface="Helvetica Neue Bold" panose="02000503000000020004" charset="0"/>
              </a:rPr>
              <a:t>:</a:t>
            </a:r>
            <a:endParaRPr lang="ru-RU" b="1" dirty="0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>
                <a:sym typeface="+mn-ea"/>
              </a:rPr>
              <a:t>Классифицируются по </a:t>
            </a:r>
            <a:r>
              <a:rPr lang="ru-RU" b="1" dirty="0">
                <a:sym typeface="+mn-ea"/>
              </a:rPr>
              <a:t>событию и времени срабатывания</a:t>
            </a:r>
            <a:r>
              <a:rPr lang="ru-RU" dirty="0">
                <a:sym typeface="+mn-ea"/>
              </a:rPr>
              <a:t>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4455" y="356235"/>
          <a:ext cx="11824970" cy="4874260"/>
        </p:xfrm>
        <a:graphic>
          <a:graphicData uri="http://schemas.openxmlformats.org/drawingml/2006/table">
            <a:tbl>
              <a:tblPr/>
              <a:tblGrid>
                <a:gridCol w="1828800"/>
                <a:gridCol w="1833245"/>
                <a:gridCol w="4290060"/>
                <a:gridCol w="3872865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Тип триггера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Время срабатывания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Описание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Где хранятся</a:t>
                      </a:r>
                      <a:endParaRPr lang="ru-RU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23620">
                <a:tc>
                  <a:txBody>
                    <a:bodyPr/>
                    <a:lstStyle/>
                    <a:p>
                      <a:r>
                        <a:rPr lang="lv-LV" sz="1600" b="1"/>
                        <a:t>DML: AFTER (FOR)</a:t>
                      </a:r>
                      <a:endParaRPr lang="lv-LV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После операции </a:t>
                      </a:r>
                      <a:r>
                        <a:rPr lang="lv-LV" sz="1600"/>
                        <a:t>INSERT, UPDATE, DELETE</a:t>
                      </a:r>
                      <a:endParaRPr lang="lv-LV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Срабатывает после выполнения операции. Используется для аудита, бизнес-логики, каскадных действий.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Tables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/>
                        <a:t>Имя таблицы] → </a:t>
                      </a:r>
                      <a:r>
                        <a:rPr lang="lv-LV" sz="1600" dirty="0" err="1"/>
                        <a:t>Triggers</a:t>
                      </a:r>
                      <a:endParaRPr lang="ru-RU" sz="1600" dirty="0"/>
                    </a:p>
                    <a:p>
                      <a:endParaRPr lang="lv-LV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3620">
                <a:tc>
                  <a:txBody>
                    <a:bodyPr/>
                    <a:lstStyle/>
                    <a:p>
                      <a:r>
                        <a:rPr lang="lv-LV" sz="1600" b="1"/>
                        <a:t>DML: INSTEAD OF</a:t>
                      </a:r>
                      <a:endParaRPr lang="lv-LV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Вместо операции </a:t>
                      </a:r>
                      <a:r>
                        <a:rPr lang="lv-LV" sz="1600" dirty="0"/>
                        <a:t>INSERT, UPDATE, DELETE</a:t>
                      </a:r>
                      <a:endParaRPr lang="lv-LV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Подменяет стандартное действие. Чаще применяется для представлений, чтобы управлять вставкой/ обновлением/ удалением.</a:t>
                      </a:r>
                      <a:endParaRPr lang="ru-RU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Tables</a:t>
                      </a:r>
                      <a:r>
                        <a:rPr lang="lv-LV" sz="1600" dirty="0"/>
                        <a:t>/</a:t>
                      </a:r>
                      <a:r>
                        <a:rPr lang="lv-LV" sz="1600" dirty="0" err="1"/>
                        <a:t>Views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/>
                        <a:t>Имя объекта] → </a:t>
                      </a:r>
                      <a:r>
                        <a:rPr lang="lv-LV" sz="1600" dirty="0" err="1"/>
                        <a:t>Triggers</a:t>
                      </a:r>
                      <a:endParaRPr lang="ru-RU" sz="1600" dirty="0"/>
                    </a:p>
                    <a:p>
                      <a:endParaRPr lang="lv-LV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7460">
                <a:tc>
                  <a:txBody>
                    <a:bodyPr/>
                    <a:lstStyle/>
                    <a:p>
                      <a:r>
                        <a:rPr lang="lv-LV" sz="1600" b="1"/>
                        <a:t>DDL-</a:t>
                      </a:r>
                      <a:r>
                        <a:rPr lang="ru-RU" sz="1600" b="1"/>
                        <a:t>триггеры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На события </a:t>
                      </a:r>
                      <a:r>
                        <a:rPr lang="lv-LV" sz="1600"/>
                        <a:t>CREATE, ALTER, DROP </a:t>
                      </a:r>
                      <a:r>
                        <a:rPr lang="ru-RU" sz="1600"/>
                        <a:t>и др.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Срабатывают при изменении структуры базы. Применяются для логирования </a:t>
                      </a:r>
                      <a:r>
                        <a:rPr lang="lv-LV" sz="1600"/>
                        <a:t>DDL </a:t>
                      </a:r>
                      <a:r>
                        <a:rPr lang="ru-RU" sz="1600"/>
                        <a:t>и защиты схемы.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Database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Triggers</a:t>
                      </a:r>
                      <a:r>
                        <a:rPr lang="ru-RU" altLang="lv-LV" sz="1600" dirty="0" err="1"/>
                        <a:t> </a:t>
                      </a:r>
                      <a:r>
                        <a:rPr lang="ru-RU" sz="1600" dirty="0"/>
                        <a:t>или </a:t>
                      </a:r>
                      <a:r>
                        <a:rPr lang="lv-LV" sz="1600" dirty="0"/>
                        <a:t>Server → Server </a:t>
                      </a:r>
                      <a:r>
                        <a:rPr lang="lv-LV" sz="1600" dirty="0" err="1"/>
                        <a:t>Objects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Triggers</a:t>
                      </a:r>
                      <a:endParaRPr lang="ru-RU" sz="1600" dirty="0"/>
                    </a:p>
                    <a:p>
                      <a:endParaRPr lang="lv-LV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3620">
                <a:tc>
                  <a:txBody>
                    <a:bodyPr/>
                    <a:lstStyle/>
                    <a:p>
                      <a:r>
                        <a:rPr lang="lv-LV" sz="1600" b="1"/>
                        <a:t>LOGON-</a:t>
                      </a:r>
                      <a:r>
                        <a:rPr lang="ru-RU" sz="1600" b="1"/>
                        <a:t>триггеры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При событии входа пользователя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Срабатывают при подключении к </a:t>
                      </a:r>
                      <a:r>
                        <a:rPr lang="lv-LV" sz="1600"/>
                        <a:t>SQL Server. </a:t>
                      </a:r>
                      <a:r>
                        <a:rPr lang="ru-RU" sz="1600"/>
                        <a:t>Используются для безопасности, контроля доступа, ограничения времени работы.</a:t>
                      </a:r>
                      <a:endParaRPr lang="ru-RU" sz="160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Server → </a:t>
                      </a:r>
                      <a:r>
                        <a:rPr lang="lv-LV" sz="1600" dirty="0" err="1"/>
                        <a:t>Security</a:t>
                      </a:r>
                      <a:r>
                        <a:rPr lang="lv-LV" sz="1600" dirty="0"/>
                        <a:t> → Server </a:t>
                      </a:r>
                      <a:r>
                        <a:rPr lang="lv-LV" sz="1600" dirty="0" err="1"/>
                        <a:t>Triggers</a:t>
                      </a:r>
                      <a:endParaRPr lang="ru-RU" sz="1600" dirty="0"/>
                    </a:p>
                    <a:p>
                      <a:endParaRPr lang="lv-LV" sz="1600" dirty="0"/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447675" y="5230495"/>
            <a:ext cx="712787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lv-LV" b="1" dirty="0">
                <a:sym typeface="+mn-ea"/>
              </a:rPr>
              <a:t>DML-</a:t>
            </a:r>
            <a:r>
              <a:rPr lang="ru-RU" b="1" dirty="0">
                <a:sym typeface="+mn-ea"/>
              </a:rPr>
              <a:t>триггеры</a:t>
            </a:r>
            <a:r>
              <a:rPr lang="ru-RU" dirty="0">
                <a:sym typeface="+mn-ea"/>
              </a:rPr>
              <a:t> привязаны к таблицам/представлениям.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lv-LV" b="1" dirty="0">
                <a:sym typeface="+mn-ea"/>
              </a:rPr>
              <a:t>DDL-</a:t>
            </a:r>
            <a:r>
              <a:rPr lang="ru-RU" b="1" dirty="0">
                <a:sym typeface="+mn-ea"/>
              </a:rPr>
              <a:t>триггеры</a:t>
            </a:r>
            <a:r>
              <a:rPr lang="ru-RU" dirty="0">
                <a:sym typeface="+mn-ea"/>
              </a:rPr>
              <a:t> привязаны к базе или серверу.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lv-LV" b="1" dirty="0">
                <a:sym typeface="+mn-ea"/>
              </a:rPr>
              <a:t>LOGON-</a:t>
            </a:r>
            <a:r>
              <a:rPr lang="ru-RU" b="1" dirty="0">
                <a:sym typeface="+mn-ea"/>
              </a:rPr>
              <a:t>триггеры</a:t>
            </a:r>
            <a:r>
              <a:rPr lang="ru-RU" dirty="0">
                <a:sym typeface="+mn-ea"/>
              </a:rPr>
              <a:t> всегда на уровне сервера.</a:t>
            </a:r>
            <a:endParaRPr lang="ru-RU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 b="1">
                <a:latin typeface="Helvetica Neue Bold" panose="02000503000000020004" charset="0"/>
                <a:cs typeface="Helvetica Neue Bold" panose="02000503000000020004" charset="0"/>
              </a:rPr>
              <a:t>Сруктура триггера</a:t>
            </a:r>
            <a:endParaRPr lang="ru-RU" altLang="en-US" b="1">
              <a:latin typeface="Helvetica Neue Bold" panose="02000503000000020004" charset="0"/>
              <a:cs typeface="Helvetica Neue Bold" panose="02000503000000020004" charset="0"/>
            </a:endParaRPr>
          </a:p>
        </p:txBody>
      </p:sp>
      <p:pic>
        <p:nvPicPr>
          <p:cNvPr id="5" name="Объект 4" descr="Изображение выглядит как текст, снимок экрана, Шрифт, алгебра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330" y="1366520"/>
            <a:ext cx="6056630" cy="256857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особенности триггеров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1. Доступные псевдотаблицы (существуют только во время выполнения триггера):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lv-LV" dirty="0"/>
              <a:t>INSERTED — </a:t>
            </a:r>
            <a:r>
              <a:rPr lang="ru-RU" dirty="0"/>
              <a:t>содержит новые значения строк после </a:t>
            </a:r>
            <a:r>
              <a:rPr lang="lv-LV" dirty="0"/>
              <a:t>INSERT </a:t>
            </a:r>
            <a:r>
              <a:rPr lang="ru-RU" dirty="0"/>
              <a:t>или </a:t>
            </a:r>
            <a:r>
              <a:rPr lang="lv-LV" dirty="0"/>
              <a:t>UPDATE.</a:t>
            </a:r>
            <a:endParaRPr lang="lv-LV" dirty="0"/>
          </a:p>
          <a:p>
            <a:pPr lvl="1" algn="just">
              <a:lnSpc>
                <a:spcPct val="150000"/>
              </a:lnSpc>
            </a:pPr>
            <a:r>
              <a:rPr lang="lv-LV" dirty="0"/>
              <a:t>DELETED — </a:t>
            </a:r>
            <a:r>
              <a:rPr lang="ru-RU" dirty="0"/>
              <a:t>содержит старые значения строк до </a:t>
            </a:r>
            <a:r>
              <a:rPr lang="lv-LV" dirty="0"/>
              <a:t>DELETE </a:t>
            </a:r>
            <a:r>
              <a:rPr lang="ru-RU" dirty="0"/>
              <a:t>или </a:t>
            </a:r>
            <a:r>
              <a:rPr lang="lv-LV" dirty="0"/>
              <a:t>UPDATE.</a:t>
            </a:r>
            <a:endParaRPr lang="lv-LV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2. Множественные строки:</a:t>
            </a:r>
            <a:endParaRPr lang="ru-RU" b="1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Триггер может срабатывать на </a:t>
            </a:r>
            <a:r>
              <a:rPr lang="ru-RU" b="1" dirty="0"/>
              <a:t>несколько строк</a:t>
            </a:r>
            <a:r>
              <a:rPr lang="ru-RU" dirty="0"/>
              <a:t>. 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Нельзя писать триггер, предполагающий только одну строку без использования </a:t>
            </a:r>
            <a:r>
              <a:rPr lang="lv-LV" dirty="0"/>
              <a:t>JOIN </a:t>
            </a:r>
            <a:r>
              <a:rPr lang="ru-RU" dirty="0"/>
              <a:t>с </a:t>
            </a:r>
            <a:r>
              <a:rPr lang="lv-LV" dirty="0" err="1"/>
              <a:t>inserted</a:t>
            </a:r>
            <a:r>
              <a:rPr lang="lv-LV" dirty="0"/>
              <a:t> </a:t>
            </a:r>
            <a:r>
              <a:rPr lang="ru-RU" dirty="0"/>
              <a:t>или </a:t>
            </a:r>
            <a:r>
              <a:rPr lang="lv-LV" dirty="0" err="1"/>
              <a:t>deleted</a:t>
            </a:r>
            <a:r>
              <a:rPr lang="lv-LV" dirty="0"/>
              <a:t>.</a:t>
            </a:r>
            <a:endParaRPr lang="lv-LV" dirty="0"/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altLang="lv-LV" b="1" dirty="0">
                <a:latin typeface="Helvetica Neue Bold" panose="02000503000000020004" charset="0"/>
                <a:cs typeface="Helvetica Neue Bold" panose="02000503000000020004" charset="0"/>
              </a:rPr>
              <a:t>3. Запрет на некоторые операции:</a:t>
            </a:r>
            <a:endParaRPr lang="ru-RU" altLang="lv-LV" b="1" dirty="0">
              <a:latin typeface="Helvetica Neue Bold" panose="02000503000000020004" charset="0"/>
              <a:cs typeface="Helvetica Neue Bold" panose="02000503000000020004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1800" dirty="0">
                <a:sym typeface="+mn-ea"/>
              </a:rPr>
              <a:t>Нельзя вызывать </a:t>
            </a:r>
            <a:r>
              <a:rPr lang="lv-LV" sz="1800" dirty="0">
                <a:sym typeface="+mn-ea"/>
              </a:rPr>
              <a:t>TRUNCATE TABLE </a:t>
            </a:r>
            <a:r>
              <a:rPr lang="ru-RU" sz="1800" dirty="0">
                <a:sym typeface="+mn-ea"/>
              </a:rPr>
              <a:t>внутри триггера (очищение всей таблицы).</a:t>
            </a:r>
            <a:endParaRPr lang="ru-RU" sz="1800" dirty="0"/>
          </a:p>
          <a:p>
            <a:pPr lvl="1" algn="just">
              <a:lnSpc>
                <a:spcPct val="150000"/>
              </a:lnSpc>
            </a:pPr>
            <a:r>
              <a:rPr lang="ru-RU" sz="1800" dirty="0">
                <a:sym typeface="+mn-ea"/>
              </a:rPr>
              <a:t>Внутри триггера нельзя изменять данные той же таблицы бесконтрольно, иначе может возникнуть </a:t>
            </a:r>
            <a:r>
              <a:rPr lang="ru-RU" sz="1800" b="1" dirty="0">
                <a:sym typeface="+mn-ea"/>
              </a:rPr>
              <a:t>рекурсивный вызов</a:t>
            </a:r>
            <a:r>
              <a:rPr lang="ru-RU" sz="1800" dirty="0">
                <a:sym typeface="+mn-ea"/>
              </a:rPr>
              <a:t>.</a:t>
            </a:r>
            <a:endParaRPr lang="ru-RU" sz="1800" dirty="0"/>
          </a:p>
          <a:p>
            <a:pPr marL="0" lvl="0" indent="0" algn="just">
              <a:lnSpc>
                <a:spcPct val="150000"/>
              </a:lnSpc>
              <a:buNone/>
            </a:pPr>
            <a:endParaRPr lang="ru-RU" altLang="lv-LV" dirty="0"/>
          </a:p>
          <a:p>
            <a:pPr lvl="1" algn="just">
              <a:lnSpc>
                <a:spcPct val="150000"/>
              </a:lnSpc>
            </a:pPr>
            <a:endParaRPr lang="lv-LV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Примеры использования</a:t>
            </a:r>
            <a:endParaRPr lang="en-US" dirty="0"/>
          </a:p>
        </p:txBody>
      </p:sp>
      <p:pic>
        <p:nvPicPr>
          <p:cNvPr id="5" name="Объект 4" descr="Изображение выглядит как текст, снимок экрана, Шрифт, алгебра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96123" y="1690688"/>
            <a:ext cx="7264400" cy="3187700"/>
          </a:xfrm>
        </p:spPr>
      </p:pic>
      <p:sp>
        <p:nvSpPr>
          <p:cNvPr id="7" name="TextBox 6"/>
          <p:cNvSpPr txBox="1"/>
          <p:nvPr/>
        </p:nvSpPr>
        <p:spPr>
          <a:xfrm>
            <a:off x="9624646" y="3859794"/>
            <a:ext cx="2567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содержит новые цены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12323" y="51673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старые цены, что позволяет отслеживать изменения.</a:t>
            </a:r>
            <a:endParaRPr lang="en-US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4747846" y="4044460"/>
            <a:ext cx="4712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727938" y="4474925"/>
            <a:ext cx="923388" cy="806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7233" y="5280621"/>
            <a:ext cx="3229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Используем </a:t>
            </a:r>
            <a:r>
              <a:rPr lang="lv-LV" dirty="0"/>
              <a:t>JOIN </a:t>
            </a:r>
            <a:r>
              <a:rPr lang="ru-RU" dirty="0"/>
              <a:t>- позволяет </a:t>
            </a:r>
            <a:endParaRPr lang="ru-RU" dirty="0"/>
          </a:p>
          <a:p>
            <a:r>
              <a:rPr lang="ru-RU" dirty="0"/>
              <a:t>сопоставить старые и новые </a:t>
            </a:r>
            <a:endParaRPr lang="ru-RU" dirty="0"/>
          </a:p>
          <a:p>
            <a:r>
              <a:rPr lang="ru-RU" dirty="0"/>
              <a:t>значения по </a:t>
            </a:r>
            <a:r>
              <a:rPr lang="lv-LV" dirty="0" err="1"/>
              <a:t>ProductID</a:t>
            </a:r>
            <a:endParaRPr lang="en-US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2196123" y="4474925"/>
            <a:ext cx="722923" cy="805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81305"/>
            <a:ext cx="11174730" cy="589534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Рекурсивный триггер (ошибка сервера)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							</a:t>
            </a:r>
            <a:r>
              <a:rPr lang="ru-RU" sz="1700" b="1" dirty="0"/>
              <a:t>Что происходит:</a:t>
            </a:r>
            <a:endParaRPr lang="ru-RU" sz="1700" dirty="0"/>
          </a:p>
          <a:p>
            <a:pPr marL="0" indent="0">
              <a:buNone/>
            </a:pPr>
            <a:r>
              <a:rPr lang="ru-RU" sz="1700" dirty="0"/>
              <a:t>						1. Пользователь делает </a:t>
            </a:r>
            <a:r>
              <a:rPr lang="lv-LV" sz="1700" dirty="0"/>
              <a:t>UPDATE </a:t>
            </a:r>
            <a:r>
              <a:rPr lang="lv-LV" sz="1700" dirty="0" err="1"/>
              <a:t>Products</a:t>
            </a:r>
            <a:r>
              <a:rPr lang="lv-LV" sz="1700" dirty="0"/>
              <a:t> SET</a:t>
            </a:r>
            <a:r>
              <a:rPr lang="ru-RU" altLang="lv-LV" sz="1700" dirty="0"/>
              <a:t> 						</a:t>
            </a:r>
            <a:r>
              <a:rPr lang="lv-LV" sz="1700" dirty="0" err="1"/>
              <a:t>Price</a:t>
            </a:r>
            <a:r>
              <a:rPr lang="lv-LV" sz="1700" dirty="0"/>
              <a:t> = </a:t>
            </a:r>
            <a:r>
              <a:rPr lang="lv-LV" sz="1700" dirty="0" err="1"/>
              <a:t>Price</a:t>
            </a:r>
            <a:r>
              <a:rPr lang="lv-LV" sz="1700" dirty="0"/>
              <a:t> * 1.1 WHERE </a:t>
            </a:r>
            <a:r>
              <a:rPr lang="lv-LV" sz="1700" dirty="0" err="1"/>
              <a:t>ProductID</a:t>
            </a:r>
            <a:r>
              <a:rPr lang="lv-LV" sz="1700" dirty="0"/>
              <a:t> = 1.</a:t>
            </a:r>
            <a:endParaRPr lang="ru-RU" sz="1700" dirty="0"/>
          </a:p>
          <a:p>
            <a:pPr marL="0" indent="0">
              <a:buNone/>
            </a:pPr>
            <a:endParaRPr lang="ru-RU" sz="1700" dirty="0"/>
          </a:p>
          <a:p>
            <a:pPr marL="0" indent="0">
              <a:buNone/>
            </a:pPr>
            <a:r>
              <a:rPr lang="ru-RU" sz="1700" dirty="0"/>
              <a:t>						2. Триггер срабатывает и снова делает 							</a:t>
            </a:r>
            <a:r>
              <a:rPr lang="lv-LV" sz="1700" dirty="0"/>
              <a:t>UPDATE </a:t>
            </a:r>
            <a:r>
              <a:rPr lang="ru-RU" sz="1700" dirty="0"/>
              <a:t>на той же таблице.</a:t>
            </a:r>
            <a:endParaRPr lang="ru-RU" sz="1700" dirty="0"/>
          </a:p>
          <a:p>
            <a:pPr marL="0" indent="0">
              <a:buNone/>
            </a:pPr>
            <a:r>
              <a:rPr lang="ru-RU" sz="1700" dirty="0"/>
              <a:t>						</a:t>
            </a:r>
            <a:endParaRPr lang="ru-RU" sz="1700" dirty="0"/>
          </a:p>
          <a:p>
            <a:pPr marL="0" indent="0">
              <a:buNone/>
            </a:pPr>
            <a:r>
              <a:rPr lang="ru-RU" sz="1700" dirty="0"/>
              <a:t>						3. Это вызывает триггер снова.</a:t>
            </a:r>
            <a:endParaRPr lang="ru-RU" sz="1700" dirty="0"/>
          </a:p>
          <a:p>
            <a:pPr marL="0" indent="0">
              <a:buNone/>
            </a:pPr>
            <a:endParaRPr lang="ru-RU" sz="1700" dirty="0"/>
          </a:p>
          <a:p>
            <a:pPr marL="0" indent="0">
              <a:buNone/>
            </a:pPr>
            <a:r>
              <a:rPr lang="ru-RU" sz="1700" dirty="0"/>
              <a:t>4. Цикл продолжается, пока </a:t>
            </a:r>
            <a:r>
              <a:rPr lang="lv-LV" sz="1700" dirty="0"/>
              <a:t>SQL Server </a:t>
            </a:r>
            <a:r>
              <a:rPr lang="ru-RU" sz="1700" dirty="0"/>
              <a:t>не выдаст ошибку о превышении глубины рекурсии.</a:t>
            </a:r>
            <a:endParaRPr lang="ru-RU" sz="1700" dirty="0"/>
          </a:p>
          <a:p>
            <a:pPr marL="0" indent="0">
              <a:buNone/>
            </a:pPr>
            <a:endParaRPr lang="ru-RU" sz="1100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1488440"/>
            <a:ext cx="6119495" cy="3163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870" y="234315"/>
            <a:ext cx="11659235" cy="5942330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endParaRPr lang="ru-RU" sz="2500" b="1" dirty="0"/>
          </a:p>
          <a:p>
            <a:pPr marL="0" indent="0">
              <a:buNone/>
            </a:pPr>
            <a:r>
              <a:rPr lang="ru-RU" sz="2500" b="1" dirty="0"/>
              <a:t>Безопасный вариант с проверкой </a:t>
            </a:r>
            <a:r>
              <a:rPr lang="lv-LV" sz="2500" b="1" dirty="0"/>
              <a:t>UPDATE()</a:t>
            </a:r>
            <a:endParaRPr lang="ru-RU" b="1" dirty="0"/>
          </a:p>
          <a:p>
            <a:pPr marL="0" indent="0">
              <a:buNone/>
            </a:pPr>
            <a:r>
              <a:rPr lang="ru-RU" sz="2200" b="1" dirty="0"/>
              <a:t>							</a:t>
            </a:r>
            <a:r>
              <a:rPr lang="lv-LV" sz="2200" b="1" dirty="0"/>
              <a:t>	</a:t>
            </a:r>
            <a:r>
              <a:rPr lang="ru-RU" sz="2200" b="1" dirty="0"/>
              <a:t>Почему безопасно:</a:t>
            </a:r>
            <a:endParaRPr lang="ru-RU" sz="2200" dirty="0"/>
          </a:p>
          <a:p>
            <a:pPr marL="0" indent="0">
              <a:buNone/>
            </a:pPr>
            <a:r>
              <a:rPr lang="lv-LV" sz="2200" dirty="0"/>
              <a:t>	</a:t>
            </a:r>
            <a:r>
              <a:rPr lang="ru-RU" sz="2200" dirty="0"/>
              <a:t>							</a:t>
            </a:r>
            <a:r>
              <a:rPr lang="lv-LV" sz="2200" dirty="0"/>
              <a:t>* </a:t>
            </a:r>
            <a:r>
              <a:rPr lang="ru-RU" sz="2200" dirty="0"/>
              <a:t>Мы не изменяем </a:t>
            </a:r>
            <a:r>
              <a:rPr lang="lv-LV" sz="2200" dirty="0" err="1"/>
              <a:t>Price</a:t>
            </a:r>
            <a:r>
              <a:rPr lang="lv-LV" sz="2200" dirty="0"/>
              <a:t> </a:t>
            </a:r>
            <a:r>
              <a:rPr lang="ru-RU" sz="2200" dirty="0"/>
              <a:t>внутри 		</a:t>
            </a:r>
            <a:r>
              <a:rPr lang="lv-LV" sz="2200" dirty="0"/>
              <a:t>	</a:t>
            </a:r>
            <a:r>
              <a:rPr lang="ru-RU" sz="2200" dirty="0"/>
              <a:t>						триггера, поэтому не вызываем его </a:t>
            </a:r>
            <a:r>
              <a:rPr lang="lv-LV" sz="2200" dirty="0"/>
              <a:t>								</a:t>
            </a:r>
            <a:r>
              <a:rPr lang="ru-RU" sz="2200" dirty="0"/>
              <a:t>повторно.</a:t>
            </a:r>
            <a:endParaRPr lang="ru-RU" sz="2200" dirty="0"/>
          </a:p>
          <a:p>
            <a:pPr marL="914400" lvl="2" indent="457200">
              <a:buNone/>
            </a:pPr>
            <a:endParaRPr lang="lv-LV" sz="2200" dirty="0"/>
          </a:p>
          <a:p>
            <a:pPr marL="0" indent="0">
              <a:buNone/>
            </a:pPr>
            <a:r>
              <a:rPr lang="lv-LV" sz="2200" dirty="0"/>
              <a:t>		</a:t>
            </a:r>
            <a:r>
              <a:rPr lang="ru-RU" altLang="lv-LV" sz="2200" dirty="0"/>
              <a:t>	</a:t>
            </a:r>
            <a:r>
              <a:rPr lang="lv-LV" sz="2200" dirty="0"/>
              <a:t>					* </a:t>
            </a:r>
            <a:r>
              <a:rPr lang="ru-RU" sz="2200" dirty="0"/>
              <a:t>Используем </a:t>
            </a:r>
            <a:r>
              <a:rPr lang="lv-LV" sz="2200" dirty="0"/>
              <a:t>IF UPDATE(</a:t>
            </a:r>
            <a:r>
              <a:rPr lang="lv-LV" sz="2200" dirty="0" err="1"/>
              <a:t>Price</a:t>
            </a:r>
            <a:r>
              <a:rPr lang="lv-LV" sz="2200" dirty="0"/>
              <a:t>) — 				</a:t>
            </a:r>
            <a:r>
              <a:rPr lang="ru-RU" altLang="lv-LV" sz="2200" dirty="0"/>
              <a:t>	</a:t>
            </a:r>
            <a:r>
              <a:rPr lang="lv-LV" sz="2200" dirty="0"/>
              <a:t>				</a:t>
            </a:r>
            <a:r>
              <a:rPr lang="ru-RU" sz="2200" dirty="0"/>
              <a:t>триггер сработает только если </a:t>
            </a:r>
            <a:r>
              <a:rPr lang="lv-LV" sz="2200" dirty="0"/>
              <a:t>					</a:t>
            </a:r>
            <a:r>
              <a:rPr lang="ru-RU" altLang="lv-LV" sz="2200" dirty="0"/>
              <a:t>	</a:t>
            </a:r>
            <a:r>
              <a:rPr lang="lv-LV" sz="2200" dirty="0"/>
              <a:t>			</a:t>
            </a:r>
            <a:r>
              <a:rPr lang="ru-RU" sz="2200" dirty="0"/>
              <a:t>реально изменилось поле </a:t>
            </a:r>
            <a:r>
              <a:rPr lang="lv-LV" sz="2200" dirty="0" err="1"/>
              <a:t>Price</a:t>
            </a:r>
            <a:r>
              <a:rPr lang="lv-LV" sz="2200" dirty="0"/>
              <a:t>.</a:t>
            </a:r>
            <a:endParaRPr lang="lv-LV" sz="2200" dirty="0"/>
          </a:p>
          <a:p>
            <a:pPr marL="0" indent="0">
              <a:buNone/>
            </a:pPr>
            <a:endParaRPr lang="lv-LV" sz="2200" dirty="0"/>
          </a:p>
          <a:p>
            <a:pPr marL="0" indent="0">
              <a:buNone/>
            </a:pPr>
            <a:r>
              <a:rPr lang="lv-LV" sz="2200" dirty="0"/>
              <a:t>						</a:t>
            </a:r>
            <a:r>
              <a:rPr lang="ru-RU" altLang="lv-LV" sz="2200" dirty="0"/>
              <a:t>	</a:t>
            </a:r>
            <a:r>
              <a:rPr lang="lv-LV" sz="2200" dirty="0"/>
              <a:t>	* JOIN </a:t>
            </a:r>
            <a:r>
              <a:rPr lang="ru-RU" sz="2200" dirty="0"/>
              <a:t>с </a:t>
            </a:r>
            <a:r>
              <a:rPr lang="lv-LV" sz="2200" dirty="0"/>
              <a:t>INSERTED </a:t>
            </a:r>
            <a:r>
              <a:rPr lang="ru-RU" sz="2200" dirty="0"/>
              <a:t>позволяет </a:t>
            </a:r>
            <a:r>
              <a:rPr lang="lv-LV" sz="2200" dirty="0"/>
              <a:t>								</a:t>
            </a:r>
            <a:r>
              <a:rPr lang="ru-RU" altLang="lv-LV" sz="2200" dirty="0"/>
              <a:t>	</a:t>
            </a:r>
            <a:r>
              <a:rPr lang="ru-RU" sz="2200" dirty="0"/>
              <a:t>корректно обработать </a:t>
            </a:r>
            <a:r>
              <a:rPr lang="ru-RU" sz="2200" b="1" dirty="0"/>
              <a:t>несколько </a:t>
            </a:r>
            <a:r>
              <a:rPr lang="lv-LV" sz="2200" b="1" dirty="0"/>
              <a:t>								</a:t>
            </a:r>
            <a:r>
              <a:rPr lang="ru-RU" sz="2200" b="1" dirty="0"/>
              <a:t>строк</a:t>
            </a:r>
            <a:r>
              <a:rPr lang="ru-RU" sz="2200" dirty="0"/>
              <a:t> сразу.</a:t>
            </a:r>
            <a:endParaRPr lang="ru-RU" sz="2200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Рисунок 4" descr="Изображение выглядит как текст, снимок экрана, Шрифт, алгебра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21" y="1485577"/>
            <a:ext cx="6782359" cy="4038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308" y="293077"/>
            <a:ext cx="11547230" cy="5883886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ru-RU" sz="2855" b="1" dirty="0"/>
              <a:t>Ещё один способ — использование флага</a:t>
            </a:r>
            <a:endParaRPr lang="lv-LV" sz="2855" b="1" dirty="0"/>
          </a:p>
          <a:p>
            <a:pPr marL="0" indent="0">
              <a:buNone/>
            </a:pPr>
            <a:r>
              <a:rPr lang="ru-RU" sz="2200" dirty="0"/>
              <a:t>Добавим </a:t>
            </a:r>
            <a:r>
              <a:rPr lang="lv-LV" sz="2200" dirty="0" err="1"/>
              <a:t>IsProcessed</a:t>
            </a:r>
            <a:r>
              <a:rPr lang="ru-RU" sz="2200" dirty="0"/>
              <a:t> = 1</a:t>
            </a:r>
            <a:r>
              <a:rPr lang="lv-LV" sz="2200" dirty="0"/>
              <a:t>, </a:t>
            </a:r>
            <a:r>
              <a:rPr lang="ru-RU" sz="2200" dirty="0"/>
              <a:t>чтобы триггер не обрабатывал строки повторно: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lv-LV" sz="2200" dirty="0"/>
              <a:t>						</a:t>
            </a:r>
            <a:r>
              <a:rPr lang="ru-RU" altLang="lv-LV" sz="2200" dirty="0"/>
              <a:t>	</a:t>
            </a:r>
            <a:r>
              <a:rPr lang="lv-LV" sz="2200" dirty="0"/>
              <a:t>* </a:t>
            </a:r>
            <a:r>
              <a:rPr lang="ru-RU" sz="2200" dirty="0"/>
              <a:t>Пользователь делает </a:t>
            </a:r>
            <a:r>
              <a:rPr lang="lv-LV" sz="2200" dirty="0"/>
              <a:t>UPDATE </a:t>
            </a:r>
            <a:r>
              <a:rPr lang="lv-LV" sz="2200" dirty="0" err="1"/>
              <a:t>Products</a:t>
            </a:r>
            <a:r>
              <a:rPr lang="lv-LV" sz="2200" dirty="0"/>
              <a:t>.</a:t>
            </a:r>
            <a:br>
              <a:rPr lang="lv-LV" sz="2200" dirty="0"/>
            </a:br>
            <a:endParaRPr lang="lv-LV" sz="2200" dirty="0"/>
          </a:p>
          <a:p>
            <a:pPr marL="914400" lvl="2" indent="457200">
              <a:buNone/>
            </a:pPr>
            <a:r>
              <a:rPr lang="lv-LV" sz="2200" dirty="0"/>
              <a:t>						* </a:t>
            </a:r>
            <a:r>
              <a:rPr lang="ru-RU" sz="2200" dirty="0"/>
              <a:t>Триггер берёт изменённые строки из </a:t>
            </a:r>
            <a:r>
              <a:rPr lang="lv-LV" sz="2200" dirty="0"/>
              <a:t>							INSERTED </a:t>
            </a:r>
            <a:r>
              <a:rPr lang="ru-RU" sz="2200" dirty="0"/>
              <a:t>и обновляет только те, у которых </a:t>
            </a:r>
            <a:r>
              <a:rPr lang="lv-LV" sz="2200" dirty="0"/>
              <a:t>						</a:t>
            </a:r>
            <a:r>
              <a:rPr lang="lv-LV" sz="2200" dirty="0" err="1"/>
              <a:t>IsProcessed</a:t>
            </a:r>
            <a:r>
              <a:rPr lang="lv-LV" sz="2200" dirty="0"/>
              <a:t> = 0.</a:t>
            </a:r>
            <a:endParaRPr lang="lv-LV" sz="2200" dirty="0"/>
          </a:p>
          <a:p>
            <a:pPr marL="0" indent="0">
              <a:buNone/>
            </a:pPr>
            <a:endParaRPr lang="lv-LV" sz="2200" dirty="0"/>
          </a:p>
          <a:p>
            <a:pPr marL="0" indent="0">
              <a:buNone/>
            </a:pPr>
            <a:r>
              <a:rPr lang="lv-LV" sz="2200" dirty="0"/>
              <a:t>	</a:t>
            </a:r>
            <a:r>
              <a:rPr lang="ru-RU" altLang="lv-LV" sz="2200" dirty="0"/>
              <a:t>	</a:t>
            </a:r>
            <a:r>
              <a:rPr lang="lv-LV" sz="2200" dirty="0"/>
              <a:t>					* </a:t>
            </a:r>
            <a:r>
              <a:rPr lang="lv-LV" sz="2200" dirty="0" err="1"/>
              <a:t>LastModified</a:t>
            </a:r>
            <a:r>
              <a:rPr lang="lv-LV" sz="2200" dirty="0"/>
              <a:t> </a:t>
            </a:r>
            <a:r>
              <a:rPr lang="ru-RU" sz="2200" dirty="0"/>
              <a:t>ставится текущей датой,</a:t>
            </a:r>
            <a:endParaRPr lang="ru-RU" sz="2200" dirty="0"/>
          </a:p>
          <a:p>
            <a:pPr marL="0" indent="0">
              <a:buNone/>
            </a:pPr>
            <a:endParaRPr lang="lv-LV" sz="2200" dirty="0"/>
          </a:p>
          <a:p>
            <a:pPr marL="0" indent="0">
              <a:buNone/>
            </a:pPr>
            <a:r>
              <a:rPr lang="lv-LV" sz="2200" dirty="0"/>
              <a:t>		</a:t>
            </a:r>
            <a:r>
              <a:rPr lang="ru-RU" altLang="lv-LV" sz="2200" dirty="0"/>
              <a:t>	</a:t>
            </a:r>
            <a:r>
              <a:rPr lang="lv-LV" sz="2200" dirty="0"/>
              <a:t>				* </a:t>
            </a:r>
            <a:r>
              <a:rPr lang="lv-LV" sz="2200" dirty="0" err="1"/>
              <a:t>IsProcessed</a:t>
            </a:r>
            <a:r>
              <a:rPr lang="lv-LV" sz="2200" dirty="0"/>
              <a:t> = 1 — </a:t>
            </a:r>
            <a:r>
              <a:rPr lang="ru-RU" sz="2200" dirty="0"/>
              <a:t>помечаем строку как </a:t>
            </a:r>
            <a:r>
              <a:rPr lang="lv-LV" sz="2200" dirty="0"/>
              <a:t>				</a:t>
            </a:r>
            <a:r>
              <a:rPr lang="ru-RU" altLang="lv-LV" sz="2200" dirty="0"/>
              <a:t>	</a:t>
            </a:r>
            <a:r>
              <a:rPr lang="lv-LV" sz="2200" dirty="0"/>
              <a:t>			</a:t>
            </a:r>
            <a:r>
              <a:rPr lang="ru-RU" sz="2200" dirty="0"/>
              <a:t>обработанную.</a:t>
            </a:r>
            <a:endParaRPr lang="ru-RU" sz="2200" dirty="0"/>
          </a:p>
          <a:p>
            <a:pPr marL="0" indent="0">
              <a:buNone/>
            </a:pPr>
            <a:r>
              <a:rPr lang="lv-LV" sz="2200" dirty="0"/>
              <a:t>* </a:t>
            </a:r>
            <a:r>
              <a:rPr lang="ru-RU" sz="2200" dirty="0"/>
              <a:t>Если триггер снова сработает, строки с </a:t>
            </a:r>
            <a:r>
              <a:rPr lang="lv-LV" sz="2200" dirty="0" err="1"/>
              <a:t>IsProcessed</a:t>
            </a:r>
            <a:r>
              <a:rPr lang="lv-LV" sz="2200" dirty="0"/>
              <a:t> = 1 </a:t>
            </a:r>
            <a:r>
              <a:rPr lang="ru-RU" sz="2200" b="1" dirty="0"/>
              <a:t>не обновляются</a:t>
            </a:r>
            <a:r>
              <a:rPr lang="ru-RU" sz="2200" dirty="0"/>
              <a:t>, рекурсия прерывается.</a:t>
            </a: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lv-LV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7" name="Рисунок 6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357825"/>
            <a:ext cx="5803210" cy="35474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0985"/>
            <a:ext cx="10515600" cy="562597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Флаг </a:t>
            </a:r>
            <a:r>
              <a:rPr lang="lv-LV" dirty="0" err="1"/>
              <a:t>IsProcessed</a:t>
            </a:r>
            <a:r>
              <a:rPr lang="lv-LV" dirty="0"/>
              <a:t> </a:t>
            </a:r>
            <a:r>
              <a:rPr lang="ru-RU" dirty="0"/>
              <a:t>защищает от </a:t>
            </a:r>
            <a:r>
              <a:rPr lang="ru-RU" b="1" dirty="0"/>
              <a:t>бесконечной рекурсии при одном </a:t>
            </a:r>
            <a:r>
              <a:rPr lang="lv-LV" b="1" dirty="0"/>
              <a:t>UPDATE</a:t>
            </a:r>
            <a:r>
              <a:rPr lang="lv-LV" dirty="0"/>
              <a:t>, </a:t>
            </a:r>
            <a:r>
              <a:rPr lang="ru-RU" dirty="0"/>
              <a:t>но </a:t>
            </a:r>
            <a:r>
              <a:rPr lang="ru-RU" b="1" dirty="0"/>
              <a:t>сам по себе блокирует повторную обработку</a:t>
            </a:r>
            <a:r>
              <a:rPr lang="ru-RU" dirty="0"/>
              <a:t>, пока его не сбросить.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Чтобы повторно менять цену по тому же </a:t>
            </a:r>
            <a:r>
              <a:rPr lang="lv-LV" dirty="0"/>
              <a:t>ID </a:t>
            </a:r>
            <a:r>
              <a:rPr lang="ru-RU" dirty="0"/>
              <a:t>через день или при другом </a:t>
            </a:r>
            <a:r>
              <a:rPr lang="lv-LV" dirty="0"/>
              <a:t>UPDATE, </a:t>
            </a:r>
            <a:r>
              <a:rPr lang="ru-RU" dirty="0"/>
              <a:t>нужно </a:t>
            </a:r>
            <a:r>
              <a:rPr lang="ru-RU" b="1" dirty="0"/>
              <a:t>сбрасывать флаг или использовать дату/условие вместо флага</a:t>
            </a:r>
            <a:r>
              <a:rPr lang="ru-RU" dirty="0"/>
              <a:t>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5" name="Рисунок 4" descr="Изображение выглядит как текст, Шрифт, снимок экрана, белый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90" y="2692887"/>
            <a:ext cx="2603500" cy="10541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2591610"/>
            <a:ext cx="7772400" cy="1350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5601" y="3954635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Сбрасываем флаг вручную перед новым обновлением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632571" y="41677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Вместо </a:t>
            </a:r>
            <a:r>
              <a:rPr lang="lv-LV" dirty="0" err="1"/>
              <a:t>IsProcessed</a:t>
            </a:r>
            <a:r>
              <a:rPr lang="lv-LV" dirty="0"/>
              <a:t> </a:t>
            </a:r>
            <a:r>
              <a:rPr lang="ru-RU" dirty="0"/>
              <a:t>можно проверять время последнего обновления</a:t>
            </a:r>
            <a:endParaRPr lang="en-US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1" y="4942509"/>
            <a:ext cx="7772400" cy="8623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5911" y="58048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Можно добавить колонку </a:t>
            </a:r>
            <a:r>
              <a:rPr lang="lv-LV" dirty="0" err="1"/>
              <a:t>LastProcessedDate</a:t>
            </a:r>
            <a:r>
              <a:rPr lang="lv-LV" dirty="0"/>
              <a:t> </a:t>
            </a:r>
            <a:r>
              <a:rPr lang="ru-RU" dirty="0"/>
              <a:t>и проверять её внутри триггера. Флаг автоматически «</a:t>
            </a:r>
            <a:r>
              <a:rPr lang="ru-RU" dirty="0" err="1"/>
              <a:t>самоподтверждается</a:t>
            </a:r>
            <a:r>
              <a:rPr lang="ru-RU" dirty="0"/>
              <a:t>» через дату</a:t>
            </a:r>
            <a:endParaRPr lang="en-US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1234832" y="3746987"/>
            <a:ext cx="0" cy="238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6729046" y="3787132"/>
            <a:ext cx="0" cy="414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endCxn id="15" idx="1"/>
          </p:cNvCxnSpPr>
          <p:nvPr/>
        </p:nvCxnSpPr>
        <p:spPr>
          <a:xfrm>
            <a:off x="3403601" y="5804896"/>
            <a:ext cx="2082310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Каскадные триггеры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ru-RU" b="1" dirty="0"/>
              <a:t>Внешняя рекурсия</a:t>
            </a:r>
            <a:r>
              <a:rPr lang="ru-RU" dirty="0"/>
              <a:t>: триггер одной таблицы изменяет другую таблицу, которая имеет триггер, влияющий на первую.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Контроль таких триггеров: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99" y="3111158"/>
            <a:ext cx="5981700" cy="3060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триггеров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Триггер </a:t>
            </a:r>
            <a:r>
              <a:rPr lang="ru-RU" b="1" dirty="0"/>
              <a:t>не может быть вызван напрямую</a:t>
            </a:r>
            <a:r>
              <a:rPr lang="ru-RU" dirty="0"/>
              <a:t> через </a:t>
            </a:r>
            <a:r>
              <a:rPr lang="lv-LV" dirty="0"/>
              <a:t>EXEC</a:t>
            </a:r>
            <a:r>
              <a:rPr lang="ru-RU" dirty="0"/>
              <a:t> (запускает процедуру, но не триггеры)</a:t>
            </a:r>
            <a:r>
              <a:rPr lang="lv-LV" dirty="0"/>
              <a:t>.</a:t>
            </a:r>
            <a:endParaRPr lang="lv-LV" dirty="0"/>
          </a:p>
          <a:p>
            <a:pPr algn="just">
              <a:lnSpc>
                <a:spcPct val="150000"/>
              </a:lnSpc>
            </a:pPr>
            <a:r>
              <a:rPr lang="ru-RU" dirty="0"/>
              <a:t>Триггер </a:t>
            </a:r>
            <a:r>
              <a:rPr lang="ru-RU" b="1" dirty="0"/>
              <a:t>не может использовать </a:t>
            </a:r>
            <a:r>
              <a:rPr lang="lv-LV" b="1" dirty="0"/>
              <a:t>TRUNCATE TABLE</a:t>
            </a:r>
            <a:r>
              <a:rPr lang="lv-LV" dirty="0"/>
              <a:t> </a:t>
            </a:r>
            <a:r>
              <a:rPr lang="ru-RU" dirty="0"/>
              <a:t>внутри себя.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Триггер не может изменять некоторые системные таблицы.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Триггер может замедлять производительность, если делает сложные вычисления на больших таблицах.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Best </a:t>
            </a:r>
            <a:r>
              <a:rPr lang="lv-LV" dirty="0" err="1"/>
              <a:t>Practices</a:t>
            </a:r>
            <a:r>
              <a:rPr lang="lv-LV" dirty="0"/>
              <a:t> (</a:t>
            </a:r>
            <a:r>
              <a:rPr lang="ru-RU" dirty="0"/>
              <a:t>Рекомендации)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1. Минимизировать код в триггере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Триггер должен быть лёгким, только для контроля целостности или аудита.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Сложную логику лучше вынести в процедуры.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2. Обрабатывать множественные строки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Использовать </a:t>
            </a:r>
            <a:r>
              <a:rPr lang="lv-LV" dirty="0"/>
              <a:t>JOIN </a:t>
            </a:r>
            <a:r>
              <a:rPr lang="lv-LV" dirty="0" err="1"/>
              <a:t>inserted</a:t>
            </a:r>
            <a:r>
              <a:rPr lang="lv-LV" dirty="0"/>
              <a:t>/</a:t>
            </a:r>
            <a:r>
              <a:rPr lang="lv-LV" dirty="0" err="1"/>
              <a:t>deleted</a:t>
            </a:r>
            <a:r>
              <a:rPr lang="lv-LV" dirty="0"/>
              <a:t> </a:t>
            </a:r>
            <a:r>
              <a:rPr lang="ru-RU" dirty="0"/>
              <a:t>вместо предположения, что обрабатывается одна строка.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1600" b="1" dirty="0">
                <a:sym typeface="+mn-ea"/>
              </a:rPr>
              <a:t>3. Использовать </a:t>
            </a:r>
            <a:r>
              <a:rPr lang="lv-LV" sz="1600" b="1" dirty="0">
                <a:sym typeface="+mn-ea"/>
              </a:rPr>
              <a:t>TRY…CATCH</a:t>
            </a:r>
            <a:endParaRPr lang="lv-LV" sz="1600" dirty="0"/>
          </a:p>
          <a:p>
            <a:pPr lvl="1" algn="just">
              <a:lnSpc>
                <a:spcPct val="150000"/>
              </a:lnSpc>
            </a:pPr>
            <a:r>
              <a:rPr lang="ru-RU" sz="1600" dirty="0">
                <a:sym typeface="+mn-ea"/>
              </a:rPr>
              <a:t>Для обработки ошибок и предотвращения отката транзакции без уведомления.</a:t>
            </a:r>
            <a:endParaRPr lang="ru-RU" sz="1600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27538"/>
            <a:ext cx="10515600" cy="56494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endParaRPr lang="ru-RU" b="1" dirty="0"/>
          </a:p>
          <a:p>
            <a:pPr marL="0" indent="0">
              <a:lnSpc>
                <a:spcPct val="150000"/>
              </a:lnSpc>
              <a:buNone/>
            </a:pPr>
            <a:r>
              <a:rPr lang="ru-RU" b="1" dirty="0"/>
              <a:t>4. Документировать триггеры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Описывать, на какие события они реагируют, чтобы другие разработчики понимали логику.</a:t>
            </a:r>
            <a:endParaRPr lang="ru-RU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4000"/>
            <a:ext cx="5478780" cy="4239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реальных сценариев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838200" y="1910862"/>
          <a:ext cx="10515600" cy="2651760"/>
        </p:xfrm>
        <a:graphic>
          <a:graphicData uri="http://schemas.openxmlformats.org/drawingml/2006/table">
            <a:tbl>
              <a:tblPr/>
              <a:tblGrid>
                <a:gridCol w="4214446"/>
                <a:gridCol w="63011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Сценарий</a:t>
                      </a:r>
                      <a:endParaRPr lang="ru-RU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Пример</a:t>
                      </a:r>
                      <a:endParaRPr lang="ru-RU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Аудит изменений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Логирование старых и новых значений </a:t>
                      </a:r>
                      <a:r>
                        <a:rPr lang="lv-LV"/>
                        <a:t>Price </a:t>
                      </a:r>
                      <a:r>
                        <a:rPr lang="ru-RU"/>
                        <a:t>в отдельную таблицу.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Поддержка целостности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Запрет удаления клиента, если есть связанные заказы.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Автоматические расчеты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При добавлении заказа автоматически рассчитывать сумму и скидку.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Интеграция</a:t>
                      </a:r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Автоматическая отправка данных в другую таблицу при обновлении (например, для репликации).</a:t>
                      </a:r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687195"/>
            <a:ext cx="9799200" cy="2570400"/>
          </a:xfrm>
        </p:spPr>
        <p:txBody>
          <a:bodyPr/>
          <a:p>
            <a:r>
              <a:rPr lang="ru-RU" altLang="en-US"/>
              <a:t>Хранимые процедуры (</a:t>
            </a:r>
            <a:r>
              <a:rPr lang="lv-LV" altLang="ru-RU"/>
              <a:t>Stored procedures)</a:t>
            </a:r>
            <a:endParaRPr lang="lv-LV" alt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хранимая процедура?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516382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Хранимая процедура</a:t>
            </a:r>
            <a:r>
              <a:rPr lang="ru-RU" dirty="0"/>
              <a:t> – это заранее скомпилированный </a:t>
            </a:r>
            <a:r>
              <a:rPr lang="lv-LV" dirty="0"/>
              <a:t>SQL-</a:t>
            </a:r>
            <a:r>
              <a:rPr lang="ru-RU" dirty="0"/>
              <a:t>код, сохранённый в базе данных, который можно вызывать многократно.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Она похожа на "функцию" в языках программирования, но работает внутри </a:t>
            </a:r>
            <a:r>
              <a:rPr lang="lv-LV" dirty="0"/>
              <a:t>SQL Server.</a:t>
            </a:r>
            <a:endParaRPr lang="lv-LV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Особенности: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>
                <a:sym typeface="+mn-ea"/>
              </a:rPr>
              <a:t>Хранятся в базе данных.</a:t>
            </a:r>
            <a:endParaRPr lang="ru-RU" dirty="0"/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ru-RU" dirty="0">
                <a:sym typeface="+mn-ea"/>
              </a:rPr>
              <a:t>Вызываются через команду </a:t>
            </a:r>
            <a:r>
              <a:rPr lang="lv-LV" dirty="0">
                <a:sym typeface="+mn-ea"/>
              </a:rPr>
              <a:t>EXEC </a:t>
            </a:r>
            <a:r>
              <a:rPr lang="ru-RU" dirty="0">
                <a:sym typeface="+mn-ea"/>
              </a:rPr>
              <a:t>или </a:t>
            </a:r>
            <a:r>
              <a:rPr lang="lv-LV" dirty="0">
                <a:sym typeface="+mn-ea"/>
              </a:rPr>
              <a:t>EXECUTE.</a:t>
            </a:r>
            <a:endParaRPr lang="lv-LV" dirty="0"/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ru-RU" dirty="0">
                <a:sym typeface="+mn-ea"/>
              </a:rPr>
              <a:t>Могут принимать входные и выходные параметры.</a:t>
            </a:r>
            <a:endParaRPr lang="ru-RU" dirty="0"/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ru-RU" dirty="0">
                <a:sym typeface="+mn-ea"/>
              </a:rPr>
              <a:t>Могут содержать управляющую логику (</a:t>
            </a:r>
            <a:r>
              <a:rPr lang="lv-LV" dirty="0">
                <a:sym typeface="+mn-ea"/>
              </a:rPr>
              <a:t>IF, WHILE, TRY...CATCH</a:t>
            </a:r>
            <a:r>
              <a:rPr lang="ru-RU" dirty="0">
                <a:sym typeface="+mn-ea"/>
              </a:rPr>
              <a:t> и т.д. – доступна полная логика </a:t>
            </a:r>
            <a:r>
              <a:rPr lang="en-US" dirty="0">
                <a:sym typeface="+mn-ea"/>
              </a:rPr>
              <a:t>T-SQL</a:t>
            </a:r>
            <a:r>
              <a:rPr lang="lv-LV" dirty="0">
                <a:sym typeface="+mn-ea"/>
              </a:rPr>
              <a:t>).</a:t>
            </a:r>
            <a:endParaRPr lang="lv-LV" dirty="0"/>
          </a:p>
          <a:p>
            <a:pPr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ru-RU" dirty="0">
                <a:sym typeface="+mn-ea"/>
              </a:rPr>
              <a:t>Можно вызывать одну процедуру из другой.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endParaRPr lang="ru-RU" dirty="0"/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4255" y="139770"/>
            <a:ext cx="10969200" cy="705600"/>
          </a:xfrm>
        </p:spPr>
        <p:txBody>
          <a:bodyPr/>
          <a:lstStyle/>
          <a:p>
            <a:r>
              <a:rPr lang="en-US" sz="2000" b="1" dirty="0">
                <a:latin typeface="Helvetica Neue Bold" panose="02000503000000020004" charset="0"/>
                <a:cs typeface="Helvetica Neue Bold" panose="02000503000000020004" charset="0"/>
              </a:rPr>
              <a:t>Типы процедур</a:t>
            </a:r>
            <a:endParaRPr lang="en-US" sz="2000" b="1" dirty="0">
              <a:latin typeface="Helvetica Neue Bold" panose="02000503000000020004" charset="0"/>
              <a:cs typeface="Helvetica Neue Bold" panose="0200050300000002000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356284" y="718254"/>
          <a:ext cx="11479236" cy="4432004"/>
        </p:xfrm>
        <a:graphic>
          <a:graphicData uri="http://schemas.openxmlformats.org/drawingml/2006/table">
            <a:tbl>
              <a:tblPr/>
              <a:tblGrid>
                <a:gridCol w="2009335"/>
                <a:gridCol w="5064369"/>
                <a:gridCol w="4405532"/>
              </a:tblGrid>
              <a:tr h="217567"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Тип процедуры</a:t>
                      </a:r>
                      <a:endParaRPr lang="ru-RU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Описание</a:t>
                      </a:r>
                      <a:endParaRPr lang="ru-RU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Где хранятся</a:t>
                      </a:r>
                      <a:endParaRPr lang="ru-RU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33443">
                <a:tc>
                  <a:txBody>
                    <a:bodyPr/>
                    <a:lstStyle/>
                    <a:p>
                      <a:r>
                        <a:rPr lang="ru-RU" sz="1600" b="1"/>
                        <a:t>Пользовательские процедуры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User Stored Procedures)</a:t>
                      </a:r>
                      <a:endParaRPr lang="lv-LV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Создаются пользователем для реализации бизнес-логики, работы с данными, автоматизации. Могут иметь входные/выходные параметры, возвращать значения.</a:t>
                      </a:r>
                      <a:endParaRPr lang="ru-RU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Stored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Procedures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sys.procedures</a:t>
                      </a:r>
                      <a:r>
                        <a:rPr lang="lv-LV" sz="1600" dirty="0"/>
                        <a:t>, </a:t>
                      </a:r>
                      <a:r>
                        <a:rPr lang="lv-LV" sz="1600" dirty="0" err="1"/>
                        <a:t>sys.sql_modules</a:t>
                      </a:r>
                      <a:endParaRPr lang="lv-LV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3443">
                <a:tc>
                  <a:txBody>
                    <a:bodyPr/>
                    <a:lstStyle/>
                    <a:p>
                      <a:r>
                        <a:rPr lang="ru-RU" sz="1600" b="1"/>
                        <a:t>Системные процедуры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System Stored Procedures)</a:t>
                      </a:r>
                      <a:endParaRPr lang="lv-LV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Идут вместе с </a:t>
                      </a:r>
                      <a:r>
                        <a:rPr lang="lv-LV" sz="1600" dirty="0"/>
                        <a:t>SQL Server, </a:t>
                      </a:r>
                      <a:r>
                        <a:rPr lang="ru-RU" sz="1600" dirty="0"/>
                        <a:t>начинаются с </a:t>
                      </a:r>
                      <a:r>
                        <a:rPr lang="lv-LV" sz="1600" dirty="0" err="1"/>
                        <a:t>sp</a:t>
                      </a:r>
                      <a:r>
                        <a:rPr lang="lv-LV" sz="1600" dirty="0"/>
                        <a:t>_ (</a:t>
                      </a:r>
                      <a:r>
                        <a:rPr lang="ru-RU" sz="1600" dirty="0"/>
                        <a:t>например, </a:t>
                      </a:r>
                      <a:r>
                        <a:rPr lang="lv-LV" sz="1600" dirty="0" err="1"/>
                        <a:t>sp_help</a:t>
                      </a:r>
                      <a:r>
                        <a:rPr lang="lv-LV" sz="1600" dirty="0"/>
                        <a:t>, </a:t>
                      </a:r>
                      <a:r>
                        <a:rPr lang="lv-LV" sz="1600" dirty="0" err="1"/>
                        <a:t>sp_who</a:t>
                      </a:r>
                      <a:r>
                        <a:rPr lang="lv-LV" sz="1600" dirty="0"/>
                        <a:t>, </a:t>
                      </a:r>
                      <a:r>
                        <a:rPr lang="lv-LV" sz="1600" dirty="0" err="1"/>
                        <a:t>sp_configure</a:t>
                      </a:r>
                      <a:r>
                        <a:rPr lang="lv-LV" sz="1600" dirty="0"/>
                        <a:t>). </a:t>
                      </a:r>
                      <a:r>
                        <a:rPr lang="ru-RU" sz="1600" dirty="0"/>
                        <a:t>Предназначены для администрирования и служебных операций.</a:t>
                      </a:r>
                      <a:endParaRPr lang="ru-RU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System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master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Stored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Procedures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sys.system_objects</a:t>
                      </a:r>
                      <a:endParaRPr lang="lv-LV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3443">
                <a:tc>
                  <a:txBody>
                    <a:bodyPr/>
                    <a:lstStyle/>
                    <a:p>
                      <a:r>
                        <a:rPr lang="ru-RU" sz="1600" b="1"/>
                        <a:t>Расширенные процедуры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Extended Stored Procedures, </a:t>
                      </a:r>
                      <a:r>
                        <a:rPr lang="ru-RU" sz="1600"/>
                        <a:t>устар.)</a:t>
                      </a:r>
                      <a:endParaRPr lang="ru-RU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Старый механизм вызова </a:t>
                      </a:r>
                      <a:r>
                        <a:rPr lang="lv-LV" sz="1600"/>
                        <a:t>DLL </a:t>
                      </a:r>
                      <a:r>
                        <a:rPr lang="ru-RU" sz="1600"/>
                        <a:t>из </a:t>
                      </a:r>
                      <a:r>
                        <a:rPr lang="lv-LV" sz="1600"/>
                        <a:t>SQL Server (</a:t>
                      </a:r>
                      <a:r>
                        <a:rPr lang="ru-RU" sz="1600"/>
                        <a:t>например, </a:t>
                      </a:r>
                      <a:r>
                        <a:rPr lang="lv-LV" sz="1600"/>
                        <a:t>xp_cmdshell). </a:t>
                      </a:r>
                      <a:r>
                        <a:rPr lang="ru-RU" sz="1600"/>
                        <a:t>Сейчас не рекомендуется к использованию из-за уязвимостей.</a:t>
                      </a:r>
                      <a:endParaRPr lang="ru-RU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master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Extended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Stored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Procedures</a:t>
                      </a:r>
                      <a:r>
                        <a:rPr lang="lv-LV" sz="1600" dirty="0"/>
                        <a:t> (</a:t>
                      </a:r>
                      <a:r>
                        <a:rPr lang="ru-RU" sz="1600" dirty="0"/>
                        <a:t>если включены)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sys.objects</a:t>
                      </a:r>
                      <a:endParaRPr lang="lv-LV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3443">
                <a:tc>
                  <a:txBody>
                    <a:bodyPr/>
                    <a:lstStyle/>
                    <a:p>
                      <a:r>
                        <a:rPr lang="lv-LV" sz="1600" b="1"/>
                        <a:t>CLR-</a:t>
                      </a:r>
                      <a:r>
                        <a:rPr lang="ru-RU" sz="1600" b="1"/>
                        <a:t>процедуры</a:t>
                      </a:r>
                      <a:endParaRPr lang="ru-RU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Написаны на .</a:t>
                      </a:r>
                      <a:r>
                        <a:rPr lang="lv-LV" sz="1600"/>
                        <a:t>NET (C#, VB.NET </a:t>
                      </a:r>
                      <a:r>
                        <a:rPr lang="ru-RU" sz="1600"/>
                        <a:t>и др.), загружаются в </a:t>
                      </a:r>
                      <a:r>
                        <a:rPr lang="lv-LV" sz="1600"/>
                        <a:t>SQL Server </a:t>
                      </a:r>
                      <a:r>
                        <a:rPr lang="ru-RU" sz="1600"/>
                        <a:t>через сборку (</a:t>
                      </a:r>
                      <a:r>
                        <a:rPr lang="lv-LV" sz="1600"/>
                        <a:t>CREATE ASSEMBLY). </a:t>
                      </a:r>
                      <a:r>
                        <a:rPr lang="ru-RU" sz="1600"/>
                        <a:t>Используются для сложной логики, которую трудно реализовать на </a:t>
                      </a:r>
                      <a:r>
                        <a:rPr lang="lv-LV" sz="1600"/>
                        <a:t>T-SQL.</a:t>
                      </a:r>
                      <a:endParaRPr lang="lv-LV" sz="160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Assemblies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sys.assembly_modules</a:t>
                      </a:r>
                      <a:r>
                        <a:rPr lang="lv-LV" sz="1600" dirty="0"/>
                        <a:t>, </a:t>
                      </a:r>
                      <a:r>
                        <a:rPr lang="lv-LV" sz="1600" dirty="0" err="1"/>
                        <a:t>sys.procedures</a:t>
                      </a:r>
                      <a:endParaRPr lang="lv-LV" sz="1600" dirty="0"/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56235" y="5150485"/>
            <a:ext cx="113722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ru-RU" sz="1600" dirty="0">
                <a:sym typeface="+mn-ea"/>
              </a:rPr>
              <a:t>Основные рабочие — </a:t>
            </a:r>
            <a:r>
              <a:rPr lang="ru-RU" sz="1600" b="1" dirty="0">
                <a:sym typeface="+mn-ea"/>
              </a:rPr>
              <a:t>пользовательские процедуры</a:t>
            </a:r>
            <a:r>
              <a:rPr lang="ru-RU" sz="1600" dirty="0">
                <a:sym typeface="+mn-ea"/>
              </a:rPr>
              <a:t>.</a:t>
            </a:r>
            <a:endParaRPr lang="ru-RU" sz="1600" dirty="0"/>
          </a:p>
          <a:p>
            <a:pPr algn="just">
              <a:lnSpc>
                <a:spcPct val="150000"/>
              </a:lnSpc>
            </a:pPr>
            <a:r>
              <a:rPr lang="ru-RU" sz="1600" b="1" dirty="0">
                <a:sym typeface="+mn-ea"/>
              </a:rPr>
              <a:t>Системные процедуры</a:t>
            </a:r>
            <a:r>
              <a:rPr lang="ru-RU" sz="1600" dirty="0">
                <a:sym typeface="+mn-ea"/>
              </a:rPr>
              <a:t> — для администрирования.</a:t>
            </a:r>
            <a:endParaRPr lang="ru-RU" sz="1600" dirty="0"/>
          </a:p>
          <a:p>
            <a:pPr algn="just">
              <a:lnSpc>
                <a:spcPct val="150000"/>
              </a:lnSpc>
            </a:pPr>
            <a:r>
              <a:rPr lang="lv-LV" sz="1600" b="1" dirty="0">
                <a:sym typeface="+mn-ea"/>
              </a:rPr>
              <a:t>CLR-</a:t>
            </a:r>
            <a:r>
              <a:rPr lang="ru-RU" sz="1600" b="1" dirty="0">
                <a:sym typeface="+mn-ea"/>
              </a:rPr>
              <a:t>процедуры</a:t>
            </a:r>
            <a:r>
              <a:rPr lang="ru-RU" sz="1600" dirty="0">
                <a:sym typeface="+mn-ea"/>
              </a:rPr>
              <a:t> — редкость, но применяются в специфичных задачах.</a:t>
            </a:r>
            <a:endParaRPr lang="ru-RU" sz="1600" dirty="0"/>
          </a:p>
          <a:p>
            <a:pPr algn="just">
              <a:lnSpc>
                <a:spcPct val="150000"/>
              </a:lnSpc>
            </a:pPr>
            <a:r>
              <a:rPr lang="lv-LV" sz="1600" b="1" dirty="0" err="1">
                <a:sym typeface="+mn-ea"/>
              </a:rPr>
              <a:t>Extended</a:t>
            </a:r>
            <a:r>
              <a:rPr lang="ru-RU" sz="1600" b="1">
                <a:sym typeface="+mn-ea"/>
              </a:rPr>
              <a:t> процедуры</a:t>
            </a:r>
            <a:r>
              <a:rPr lang="lv-LV" sz="1600">
                <a:sym typeface="+mn-ea"/>
              </a:rPr>
              <a:t> </a:t>
            </a:r>
            <a:r>
              <a:rPr lang="lv-LV" sz="1600" dirty="0">
                <a:sym typeface="+mn-ea"/>
              </a:rPr>
              <a:t>— </a:t>
            </a:r>
            <a:r>
              <a:rPr lang="ru-RU" sz="1600" dirty="0">
                <a:sym typeface="+mn-ea"/>
              </a:rPr>
              <a:t>устарели, но можно встретить.</a:t>
            </a:r>
            <a:endParaRPr lang="ru-RU" sz="1600" dirty="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9445"/>
            <a:ext cx="10515600" cy="5537835"/>
          </a:xfrm>
        </p:spPr>
        <p:txBody>
          <a:bodyPr>
            <a:normAutofit fontScale="7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ru-RU" sz="2570" b="1" dirty="0"/>
              <a:t>Основные цели процедур:</a:t>
            </a:r>
            <a:endParaRPr lang="ru-RU" sz="2570" b="1" dirty="0"/>
          </a:p>
          <a:p>
            <a:pPr algn="just">
              <a:lnSpc>
                <a:spcPct val="160000"/>
              </a:lnSpc>
            </a:pPr>
            <a:r>
              <a:rPr lang="ru-RU" sz="2570" dirty="0"/>
              <a:t>Повторное использование кода — однажды написали, вызываем многократно.</a:t>
            </a:r>
            <a:endParaRPr lang="ru-RU" sz="2570" dirty="0"/>
          </a:p>
          <a:p>
            <a:pPr algn="just">
              <a:lnSpc>
                <a:spcPct val="160000"/>
              </a:lnSpc>
            </a:pPr>
            <a:r>
              <a:rPr lang="ru-RU" sz="2570" dirty="0"/>
              <a:t>Инкапсуляция бизнес-логики — можно спрятать логику от пользователей.</a:t>
            </a:r>
            <a:endParaRPr lang="ru-RU" sz="2570" dirty="0"/>
          </a:p>
          <a:p>
            <a:pPr algn="just">
              <a:lnSpc>
                <a:spcPct val="160000"/>
              </a:lnSpc>
            </a:pPr>
            <a:r>
              <a:rPr lang="ru-RU" sz="2570" dirty="0"/>
              <a:t>Безопасность — можно дать доступ к выполнению процедуры, но не к самим таблицам.</a:t>
            </a:r>
            <a:endParaRPr lang="ru-RU" sz="2570" dirty="0"/>
          </a:p>
          <a:p>
            <a:pPr algn="just">
              <a:lnSpc>
                <a:spcPct val="160000"/>
              </a:lnSpc>
            </a:pPr>
            <a:r>
              <a:rPr lang="ru-RU" sz="2570" dirty="0"/>
              <a:t>Оптимизация — процедура компилируется один раз, повторные вызовы выполняются быстрее.</a:t>
            </a:r>
            <a:endParaRPr lang="ru-RU" sz="2570" dirty="0"/>
          </a:p>
          <a:p>
            <a:pPr algn="just">
              <a:lnSpc>
                <a:spcPct val="160000"/>
              </a:lnSpc>
            </a:pPr>
            <a:r>
              <a:rPr lang="ru-RU" sz="2570" dirty="0"/>
              <a:t>Уменьшение сетевого трафика — клиент отправляет один вызов процедуры (</a:t>
            </a:r>
            <a:r>
              <a:rPr lang="en-US" sz="2570" dirty="0"/>
              <a:t>EXEC)</a:t>
            </a:r>
            <a:r>
              <a:rPr lang="lv-LV" sz="2570" dirty="0"/>
              <a:t>, </a:t>
            </a:r>
            <a:r>
              <a:rPr lang="ru-RU" sz="2570" dirty="0"/>
              <a:t>а не длинный </a:t>
            </a:r>
            <a:r>
              <a:rPr lang="lv-LV" sz="2570" dirty="0"/>
              <a:t>SQL-</a:t>
            </a:r>
            <a:r>
              <a:rPr lang="ru-RU" sz="2570" dirty="0"/>
              <a:t>запрос.</a:t>
            </a:r>
            <a:endParaRPr lang="ru-RU" sz="25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процедур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ru-RU" dirty="0"/>
              <a:t>Нельзя использовать внутри </a:t>
            </a:r>
            <a:r>
              <a:rPr lang="lv-LV" dirty="0"/>
              <a:t>SELECT (</a:t>
            </a:r>
            <a:r>
              <a:rPr lang="ru-RU" dirty="0"/>
              <a:t>в отличие от функций).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Могут возвращать только </a:t>
            </a:r>
            <a:r>
              <a:rPr lang="ru-RU" b="1" dirty="0"/>
              <a:t>одно целое значение</a:t>
            </a:r>
            <a:r>
              <a:rPr lang="ru-RU" dirty="0"/>
              <a:t> (</a:t>
            </a:r>
            <a:r>
              <a:rPr lang="lv-LV" dirty="0"/>
              <a:t>RETURN) </a:t>
            </a:r>
            <a:r>
              <a:rPr lang="ru-RU" dirty="0"/>
              <a:t>или данные через </a:t>
            </a:r>
            <a:r>
              <a:rPr lang="lv-LV" dirty="0"/>
              <a:t>OUTPUT (</a:t>
            </a:r>
            <a:r>
              <a:rPr lang="ru-RU" dirty="0"/>
              <a:t>нет гибкого возврата, как у функций).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Слишком сложные процедуры могут тормозить при плохом проектировании БД.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9865" y="365125"/>
            <a:ext cx="11163935" cy="523240"/>
          </a:xfrm>
        </p:spPr>
        <p:txBody>
          <a:bodyPr>
            <a:normAutofit fontScale="90000"/>
          </a:bodyPr>
          <a:lstStyle/>
          <a:p>
            <a:r>
              <a:rPr lang="ru-RU" dirty="0"/>
              <a:t>Синтаксис создания	Синтаксис вызова</a:t>
            </a:r>
            <a:endParaRPr lang="en-US" dirty="0"/>
          </a:p>
        </p:txBody>
      </p:sp>
      <p:pic>
        <p:nvPicPr>
          <p:cNvPr id="5" name="Объект 4" descr="Изображение выглядит как текст, снимок экрана, Шрифт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631" y="1371600"/>
            <a:ext cx="4737100" cy="2565400"/>
          </a:xfrm>
        </p:spPr>
      </p:pic>
      <p:pic>
        <p:nvPicPr>
          <p:cNvPr id="7" name="Рисунок 6" descr="Изображение выглядит как текст, Шрифт, белый, снимок экрана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273" y="1453634"/>
            <a:ext cx="2489200" cy="101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98219" y="1780265"/>
            <a:ext cx="2567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Простейший вызов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748" y="2779197"/>
            <a:ext cx="6136052" cy="5721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46024" y="3660899"/>
            <a:ext cx="3607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Вызов с входными параметрами</a:t>
            </a:r>
            <a:endParaRPr lang="en-US" dirty="0"/>
          </a:p>
        </p:txBody>
      </p:sp>
      <p:pic>
        <p:nvPicPr>
          <p:cNvPr id="15" name="Рисунок 14" descr="Изображение выглядит как текст, снимок экрана, Шрифт, алгебра&#10;&#10;Автоматически созданное описани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547" y="4362450"/>
            <a:ext cx="4902200" cy="2247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11208" y="5163234"/>
            <a:ext cx="3174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Вызов с выходными параметрами (</a:t>
            </a:r>
            <a:r>
              <a:rPr lang="lv-LV" dirty="0"/>
              <a:t>OUTPUT)</a:t>
            </a:r>
            <a:endParaRPr lang="en-US" dirty="0"/>
          </a:p>
        </p:txBody>
      </p:sp>
      <p:cxnSp>
        <p:nvCxnSpPr>
          <p:cNvPr id="19" name="Прямая со стрелкой 18"/>
          <p:cNvCxnSpPr>
            <a:stCxn id="7" idx="3"/>
          </p:cNvCxnSpPr>
          <p:nvPr/>
        </p:nvCxnSpPr>
        <p:spPr>
          <a:xfrm>
            <a:off x="8425473" y="1961634"/>
            <a:ext cx="7727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8425473" y="3251172"/>
            <a:ext cx="601296" cy="522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6741747" y="5490279"/>
            <a:ext cx="7727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r>
              <a:rPr lang="en-US" dirty="0"/>
              <a:t>Примеры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18492"/>
            <a:ext cx="10515600" cy="4758471"/>
          </a:xfrm>
        </p:spPr>
        <p:txBody>
          <a:bodyPr/>
          <a:lstStyle/>
          <a:p>
            <a:r>
              <a:rPr lang="ru-RU" dirty="0"/>
              <a:t>Простейшая процедура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, алгебра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325" y="2165776"/>
            <a:ext cx="7427651" cy="34026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27538"/>
            <a:ext cx="10515600" cy="5649425"/>
          </a:xfrm>
        </p:spPr>
        <p:txBody>
          <a:bodyPr/>
          <a:lstStyle/>
          <a:p>
            <a:r>
              <a:rPr lang="ru-RU" dirty="0"/>
              <a:t>Процедура с параметром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227" y="1598411"/>
            <a:ext cx="8104582" cy="38176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04092"/>
            <a:ext cx="10515600" cy="5672871"/>
          </a:xfrm>
        </p:spPr>
        <p:txBody>
          <a:bodyPr/>
          <a:lstStyle/>
          <a:p>
            <a:r>
              <a:rPr lang="ru-RU" dirty="0"/>
              <a:t>Параметры по умолчанию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45" y="1385969"/>
            <a:ext cx="8424115" cy="44286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33754"/>
            <a:ext cx="10515600" cy="5743209"/>
          </a:xfrm>
        </p:spPr>
        <p:txBody>
          <a:bodyPr/>
          <a:lstStyle/>
          <a:p>
            <a:r>
              <a:rPr lang="ru-RU" dirty="0"/>
              <a:t>Выходной параметр (</a:t>
            </a:r>
            <a:r>
              <a:rPr lang="lv-LV" dirty="0"/>
              <a:t>OUTPUT)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1294865"/>
            <a:ext cx="7772400" cy="42682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/>
          <a:lstStyle/>
          <a:p>
            <a:r>
              <a:rPr lang="ru-RU" dirty="0"/>
              <a:t>Возврат значения через </a:t>
            </a:r>
            <a:r>
              <a:rPr lang="lv-LV" dirty="0"/>
              <a:t>RETURN</a:t>
            </a:r>
            <a:endParaRPr lang="en-US" dirty="0"/>
          </a:p>
        </p:txBody>
      </p:sp>
      <p:pic>
        <p:nvPicPr>
          <p:cNvPr id="7" name="Рисунок 6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49" y="1128737"/>
            <a:ext cx="7620000" cy="56134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4433863"/>
            <a:ext cx="74041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27538"/>
            <a:ext cx="10515600" cy="5649425"/>
          </a:xfrm>
        </p:spPr>
        <p:txBody>
          <a:bodyPr/>
          <a:lstStyle/>
          <a:p>
            <a:r>
              <a:rPr lang="en-US" dirty="0"/>
              <a:t>С обработкой ошибок </a:t>
            </a:r>
            <a:r>
              <a:rPr lang="en-US" dirty="0"/>
              <a:t>TRY…CATCH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042" y="1046285"/>
            <a:ext cx="57785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398"/>
          </a:xfrm>
        </p:spPr>
        <p:txBody>
          <a:bodyPr/>
          <a:lstStyle/>
          <a:p>
            <a:r>
              <a:rPr lang="ru-RU" dirty="0"/>
              <a:t>Изменение и удаление процедур</a:t>
            </a:r>
            <a:endParaRPr lang="en-US" dirty="0"/>
          </a:p>
        </p:txBody>
      </p:sp>
      <p:pic>
        <p:nvPicPr>
          <p:cNvPr id="5" name="Объект 4" descr="Изображение выглядит как текст, Шрифт, снимок экрана, белый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8335" y="1224790"/>
            <a:ext cx="4838700" cy="1714500"/>
          </a:xfrm>
        </p:spPr>
      </p:pic>
      <p:pic>
        <p:nvPicPr>
          <p:cNvPr id="7" name="Рисунок 6" descr="Изображение выглядит как Шрифт, текст, Графика, белый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634" y="1224790"/>
            <a:ext cx="3670300" cy="482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550" y="2988569"/>
            <a:ext cx="609600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Изменить</a:t>
            </a:r>
            <a:r>
              <a:rPr lang="en-US" b="1" dirty="0"/>
              <a:t> </a:t>
            </a:r>
            <a:r>
              <a:rPr lang="ru-RU" b="1" dirty="0"/>
              <a:t>процедуру:</a:t>
            </a:r>
            <a:endParaRPr lang="ru-RU" b="1" dirty="0"/>
          </a:p>
          <a:p>
            <a:endParaRPr lang="ru-RU" b="1" dirty="0"/>
          </a:p>
          <a:p>
            <a:pPr>
              <a:buFont typeface="+mj-lt"/>
              <a:buAutoNum type="arabicPeriod"/>
            </a:pPr>
            <a:r>
              <a:rPr lang="ru-RU" i="1" u="sng" dirty="0"/>
              <a:t>Что можно изменить с </a:t>
            </a:r>
            <a:r>
              <a:rPr lang="lv-LV" i="1" u="sng" dirty="0"/>
              <a:t>ALTER PROCEDURE:</a:t>
            </a:r>
            <a:endParaRPr lang="lv-LV" i="1" u="sng" dirty="0"/>
          </a:p>
          <a:p>
            <a:pPr>
              <a:buFont typeface="Arial" panose="020B0604020202090204" pitchFamily="34" charset="0"/>
              <a:buChar char="•"/>
            </a:pPr>
            <a:r>
              <a:rPr lang="ru-RU" dirty="0"/>
              <a:t>  Тело процедуры (</a:t>
            </a:r>
            <a:r>
              <a:rPr lang="lv-LV" dirty="0"/>
              <a:t>BEGIN … END).</a:t>
            </a:r>
            <a:endParaRPr lang="lv-LV" dirty="0"/>
          </a:p>
          <a:p>
            <a:pPr>
              <a:buFont typeface="Arial" panose="020B0604020202090204" pitchFamily="34" charset="0"/>
              <a:buChar char="•"/>
            </a:pPr>
            <a:r>
              <a:rPr lang="ru-RU" dirty="0"/>
              <a:t>  Логику </a:t>
            </a:r>
            <a:r>
              <a:rPr lang="lv-LV" dirty="0"/>
              <a:t>SQL-</a:t>
            </a:r>
            <a:r>
              <a:rPr lang="ru-RU" dirty="0"/>
              <a:t>запросов внутри.</a:t>
            </a:r>
            <a:endParaRPr lang="ru-RU" dirty="0"/>
          </a:p>
          <a:p>
            <a:pPr>
              <a:buFont typeface="Arial" panose="020B0604020202090204" pitchFamily="34" charset="0"/>
              <a:buChar char="•"/>
            </a:pPr>
            <a:r>
              <a:rPr lang="ru-RU" dirty="0"/>
              <a:t>  Параметры (добавить новые, изменить типы, значения по умолчанию).</a:t>
            </a:r>
            <a:endParaRPr lang="ru-RU" dirty="0"/>
          </a:p>
          <a:p>
            <a:pPr>
              <a:buFont typeface="Arial" panose="020B0604020202090204" pitchFamily="34" charset="0"/>
              <a:buChar char="•"/>
            </a:pPr>
            <a:endParaRPr lang="ru-RU" dirty="0"/>
          </a:p>
          <a:p>
            <a:pPr>
              <a:buFont typeface="+mj-lt"/>
              <a:buAutoNum type="arabicPeriod" startAt="2"/>
            </a:pPr>
            <a:r>
              <a:rPr lang="ru-RU" i="1" u="sng" dirty="0"/>
              <a:t>Что нельзя изменить:</a:t>
            </a:r>
            <a:endParaRPr lang="ru-RU" i="1" u="sng" dirty="0"/>
          </a:p>
          <a:p>
            <a:pPr>
              <a:buFont typeface="Arial" panose="020B0604020202090204" pitchFamily="34" charset="0"/>
              <a:buChar char="•"/>
            </a:pPr>
            <a:r>
              <a:rPr lang="ru-RU" dirty="0"/>
              <a:t>  Имя процедуры — для этого нужно </a:t>
            </a:r>
            <a:r>
              <a:rPr lang="lv-LV" dirty="0"/>
              <a:t>DROP PROCEDURE + CREATE PROCEDURE.</a:t>
            </a:r>
            <a:endParaRPr lang="lv-LV" dirty="0"/>
          </a:p>
          <a:p>
            <a:pPr>
              <a:buFont typeface="Arial" panose="020B0604020202090204" pitchFamily="34" charset="0"/>
              <a:buChar char="•"/>
            </a:pPr>
            <a:r>
              <a:rPr lang="ru-RU" dirty="0"/>
              <a:t>  Схему (</a:t>
            </a:r>
            <a:r>
              <a:rPr lang="lv-LV" dirty="0" err="1"/>
              <a:t>dbo</a:t>
            </a:r>
            <a:r>
              <a:rPr lang="lv-LV" dirty="0"/>
              <a:t>, </a:t>
            </a:r>
            <a:r>
              <a:rPr lang="lv-LV" dirty="0" err="1"/>
              <a:t>sales</a:t>
            </a:r>
            <a:r>
              <a:rPr lang="lv-LV" dirty="0"/>
              <a:t> </a:t>
            </a:r>
            <a:r>
              <a:rPr lang="ru-RU" dirty="0"/>
              <a:t>и т.д.) — нужно пересоздавать в другой схеме.</a:t>
            </a:r>
            <a:endParaRPr lang="ru-RU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75181" y="1954956"/>
            <a:ext cx="5407269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Удалить процедуру:</a:t>
            </a:r>
            <a:endParaRPr lang="ru-RU" b="1" dirty="0"/>
          </a:p>
          <a:p>
            <a:endParaRPr lang="ru-RU" dirty="0"/>
          </a:p>
          <a:p>
            <a:r>
              <a:rPr lang="ru-RU" i="1" u="sng" dirty="0"/>
              <a:t>Нельзя или не рекомендуется удалять:</a:t>
            </a:r>
            <a:endParaRPr lang="ru-RU" i="1" u="sng" dirty="0"/>
          </a:p>
          <a:p>
            <a:pPr>
              <a:buFont typeface="Arial" panose="020B0604020202090204" pitchFamily="34" charset="0"/>
              <a:buChar char="•"/>
            </a:pPr>
            <a:r>
              <a:rPr lang="ru-RU" b="1" dirty="0"/>
              <a:t>  Системные процедуры</a:t>
            </a:r>
            <a:r>
              <a:rPr lang="ru-RU" dirty="0"/>
              <a:t> (</a:t>
            </a:r>
            <a:r>
              <a:rPr lang="lv-LV" dirty="0" err="1"/>
              <a:t>sp</a:t>
            </a:r>
            <a:r>
              <a:rPr lang="lv-LV" dirty="0"/>
              <a:t>_…) — </a:t>
            </a:r>
            <a:r>
              <a:rPr lang="ru-RU" dirty="0"/>
              <a:t>входят в состав </a:t>
            </a:r>
            <a:r>
              <a:rPr lang="lv-LV" dirty="0"/>
              <a:t>SQL Server, </a:t>
            </a:r>
            <a:r>
              <a:rPr lang="ru-RU" dirty="0"/>
              <a:t>их удаление может повредить работу сервера.</a:t>
            </a:r>
            <a:endParaRPr lang="ru-RU" dirty="0"/>
          </a:p>
          <a:p>
            <a:pPr>
              <a:buFont typeface="Arial" panose="020B0604020202090204" pitchFamily="34" charset="0"/>
              <a:buChar char="•"/>
            </a:pPr>
            <a:r>
              <a:rPr lang="ru-RU" b="1" dirty="0"/>
              <a:t>  Процедуры с зависимостями</a:t>
            </a:r>
            <a:r>
              <a:rPr lang="ru-RU" dirty="0"/>
              <a:t> — если другие объекты (процедуры, триггеры, функции) используют эту процедуру, удаление без проверки может вызвать ошибки.</a:t>
            </a:r>
            <a:endParaRPr lang="ru-RU" dirty="0"/>
          </a:p>
          <a:p>
            <a:pPr>
              <a:buFont typeface="Arial" panose="020B0604020202090204" pitchFamily="34" charset="0"/>
              <a:buChar char="•"/>
            </a:pPr>
            <a:r>
              <a:rPr lang="ru-RU" b="1" dirty="0"/>
              <a:t>  Процедуры в защищённых схемах</a:t>
            </a:r>
            <a:r>
              <a:rPr lang="ru-RU" dirty="0"/>
              <a:t> — пользователи без соответствующих прав (</a:t>
            </a:r>
            <a:r>
              <a:rPr lang="lv-LV" dirty="0"/>
              <a:t>ALTER/CONTROL/DROP) </a:t>
            </a:r>
            <a:r>
              <a:rPr lang="ru-RU" dirty="0"/>
              <a:t>не смогут их удалить.</a:t>
            </a:r>
            <a:endParaRPr lang="ru-RU" dirty="0"/>
          </a:p>
          <a:p>
            <a:pPr>
              <a:buFont typeface="Arial" panose="020B0604020202090204" pitchFamily="34" charset="0"/>
              <a:buChar char="•"/>
            </a:pPr>
            <a:r>
              <a:rPr lang="ru-RU" altLang="lv-LV" b="1" dirty="0"/>
              <a:t>  </a:t>
            </a:r>
            <a:r>
              <a:rPr lang="lv-LV" b="1" dirty="0"/>
              <a:t>CLR-</a:t>
            </a:r>
            <a:r>
              <a:rPr lang="ru-RU" b="1" dirty="0"/>
              <a:t>процедуры</a:t>
            </a:r>
            <a:r>
              <a:rPr lang="ru-RU" dirty="0"/>
              <a:t> — нельзя удалить до удаления сборки (</a:t>
            </a:r>
            <a:r>
              <a:rPr lang="lv-LV" dirty="0"/>
              <a:t>DROP ASSEMBLY), </a:t>
            </a:r>
            <a:r>
              <a:rPr lang="ru-RU" dirty="0"/>
              <a:t>к которой они привязаны.</a:t>
            </a:r>
            <a:endParaRPr lang="ru-RU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и производительность хранимых процедур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8330" y="2072005"/>
            <a:ext cx="10968990" cy="417766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1. Кэширование планов выполнения</a:t>
            </a:r>
            <a:endParaRPr lang="ru-RU" b="1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Когда вызывается хранимая процедура, </a:t>
            </a:r>
            <a:r>
              <a:rPr lang="lv-LV" dirty="0"/>
              <a:t>SQL Server </a:t>
            </a:r>
            <a:r>
              <a:rPr lang="ru-RU" b="1" dirty="0"/>
              <a:t>создаёт план выполнения</a:t>
            </a:r>
            <a:r>
              <a:rPr lang="ru-RU" dirty="0"/>
              <a:t> (</a:t>
            </a:r>
            <a:r>
              <a:rPr lang="lv-LV" dirty="0" err="1"/>
              <a:t>execution</a:t>
            </a:r>
            <a:r>
              <a:rPr lang="lv-LV" dirty="0"/>
              <a:t> </a:t>
            </a:r>
            <a:r>
              <a:rPr lang="lv-LV" dirty="0" err="1"/>
              <a:t>plan</a:t>
            </a:r>
            <a:r>
              <a:rPr lang="lv-LV" dirty="0"/>
              <a:t>).</a:t>
            </a:r>
            <a:endParaRPr lang="lv-LV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План сохраняется в кэше, и при повторном вызове той же процедуры </a:t>
            </a:r>
            <a:r>
              <a:rPr lang="ru-RU" b="1" dirty="0"/>
              <a:t>не требуется заново компилировать </a:t>
            </a:r>
            <a:r>
              <a:rPr lang="lv-LV" b="1" dirty="0"/>
              <a:t>SQL</a:t>
            </a:r>
            <a:r>
              <a:rPr lang="lv-LV" dirty="0"/>
              <a:t>, </a:t>
            </a:r>
            <a:r>
              <a:rPr lang="ru-RU" dirty="0"/>
              <a:t>что ускоряет выполнение.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75138"/>
            <a:ext cx="10515600" cy="580182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2. Параметрическая чувствительность (</a:t>
            </a:r>
            <a:r>
              <a:rPr lang="lv-LV" b="1" dirty="0" err="1"/>
              <a:t>Parameter</a:t>
            </a:r>
            <a:r>
              <a:rPr lang="lv-LV" b="1" dirty="0"/>
              <a:t> </a:t>
            </a:r>
            <a:r>
              <a:rPr lang="lv-LV" b="1" dirty="0" err="1"/>
              <a:t>Sniffing</a:t>
            </a:r>
            <a:r>
              <a:rPr lang="lv-LV" b="1" dirty="0"/>
              <a:t>)</a:t>
            </a:r>
            <a:endParaRPr lang="lv-LV" b="1" dirty="0"/>
          </a:p>
          <a:p>
            <a:pPr lvl="1" algn="just">
              <a:lnSpc>
                <a:spcPct val="150000"/>
              </a:lnSpc>
            </a:pPr>
            <a:r>
              <a:rPr lang="lv-LV" dirty="0"/>
              <a:t>SQL Server </a:t>
            </a:r>
            <a:r>
              <a:rPr lang="ru-RU" dirty="0"/>
              <a:t>строит план выполнения, используя </a:t>
            </a:r>
            <a:r>
              <a:rPr lang="ru-RU" b="1" dirty="0"/>
              <a:t>первые переданные параметры</a:t>
            </a:r>
            <a:r>
              <a:rPr lang="ru-RU" dirty="0"/>
              <a:t>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Проблема: если первые параметры редкие или экстремальные, план может быть </a:t>
            </a:r>
            <a:r>
              <a:rPr lang="ru-RU" b="1" dirty="0"/>
              <a:t>неэффективным для других значений</a:t>
            </a:r>
            <a:r>
              <a:rPr lang="ru-RU" dirty="0"/>
              <a:t>.</a:t>
            </a:r>
            <a:endParaRPr lang="ru-RU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Решение: можно использовать </a:t>
            </a:r>
            <a:r>
              <a:rPr lang="lv-LV" dirty="0"/>
              <a:t>WITH RECOMPILE, </a:t>
            </a:r>
            <a:r>
              <a:rPr lang="ru-RU" dirty="0"/>
              <a:t>чтобы </a:t>
            </a:r>
            <a:r>
              <a:rPr lang="lv-LV" dirty="0"/>
              <a:t>SQL Server </a:t>
            </a:r>
            <a:r>
              <a:rPr lang="ru-RU" b="1" dirty="0"/>
              <a:t>перекомпилировал план для каждого вызова</a:t>
            </a:r>
            <a:r>
              <a:rPr lang="ru-RU" dirty="0"/>
              <a:t>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15" y="5292090"/>
            <a:ext cx="7772400" cy="62137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15" y="3581792"/>
            <a:ext cx="4686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</a:t>
            </a:r>
            <a:r>
              <a:rPr lang="lv-LV" dirty="0"/>
              <a:t>SQL </a:t>
            </a:r>
            <a:r>
              <a:rPr lang="ru-RU" dirty="0"/>
              <a:t>в процедурах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Динамический </a:t>
            </a:r>
            <a:r>
              <a:rPr lang="lv-LV" b="1" dirty="0"/>
              <a:t>SQL</a:t>
            </a:r>
            <a:r>
              <a:rPr lang="lv-LV" dirty="0"/>
              <a:t> — </a:t>
            </a:r>
            <a:r>
              <a:rPr lang="ru-RU" dirty="0"/>
              <a:t>это </a:t>
            </a:r>
            <a:r>
              <a:rPr lang="lv-LV" dirty="0"/>
              <a:t>SQL-</a:t>
            </a:r>
            <a:r>
              <a:rPr lang="ru-RU" dirty="0"/>
              <a:t>запрос, который строится </a:t>
            </a:r>
            <a:r>
              <a:rPr lang="ru-RU" b="1" dirty="0"/>
              <a:t>как строка во время выполнения</a:t>
            </a:r>
            <a:r>
              <a:rPr lang="ru-RU" dirty="0"/>
              <a:t> и затем выполняется.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Отличие от обычного </a:t>
            </a:r>
            <a:r>
              <a:rPr lang="lv-LV" dirty="0"/>
              <a:t>SQL: </a:t>
            </a:r>
            <a:r>
              <a:rPr lang="ru-RU" dirty="0"/>
              <a:t>обычные запросы фиксированы на этапе компиляции.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Применяется, когда нужно выбирать таблицу, колонку или условие </a:t>
            </a:r>
            <a:r>
              <a:rPr lang="ru-RU" b="1" dirty="0"/>
              <a:t>по параметрам</a:t>
            </a:r>
            <a:r>
              <a:rPr lang="ru-RU" dirty="0"/>
              <a:t>, которые неизвестны заранее.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3415"/>
            <a:ext cx="10515600" cy="5813548"/>
          </a:xfrm>
        </p:spPr>
        <p:txBody>
          <a:bodyPr/>
          <a:lstStyle/>
          <a:p>
            <a:r>
              <a:rPr lang="ru-RU" dirty="0"/>
              <a:t>Пример процедуры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368" y="1054099"/>
            <a:ext cx="7772400" cy="3470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8936" y="942921"/>
            <a:ext cx="283532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400" b="1" dirty="0"/>
              <a:t>@</a:t>
            </a:r>
            <a:r>
              <a:rPr lang="lv-LV" sz="1400" b="1" dirty="0" err="1"/>
              <a:t>Column</a:t>
            </a:r>
            <a:r>
              <a:rPr lang="lv-LV" sz="1400" b="1" dirty="0"/>
              <a:t> </a:t>
            </a:r>
            <a:r>
              <a:rPr lang="ru-RU" sz="1400" b="1" dirty="0"/>
              <a:t>и @</a:t>
            </a:r>
            <a:r>
              <a:rPr lang="lv-LV" sz="1400" b="1" dirty="0"/>
              <a:t>Value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lv-LV" sz="1400" dirty="0"/>
              <a:t>@</a:t>
            </a:r>
            <a:r>
              <a:rPr lang="lv-LV" sz="1400" dirty="0" err="1"/>
              <a:t>Column</a:t>
            </a:r>
            <a:r>
              <a:rPr lang="lv-LV" sz="1400" dirty="0"/>
              <a:t> — </a:t>
            </a:r>
            <a:r>
              <a:rPr lang="ru-RU" sz="1400" dirty="0"/>
              <a:t>имя колонки, по которой ищем.</a:t>
            </a:r>
            <a:endParaRPr lang="ru-RU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@</a:t>
            </a:r>
            <a:r>
              <a:rPr lang="lv-LV" sz="1400" dirty="0"/>
              <a:t>Value — </a:t>
            </a:r>
            <a:r>
              <a:rPr lang="ru-RU" sz="1400" dirty="0"/>
              <a:t>значение для фильтра</a:t>
            </a:r>
            <a:r>
              <a:rPr lang="ru-RU" dirty="0"/>
              <a:t>.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789768" y="2747572"/>
            <a:ext cx="32280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400" b="1" dirty="0"/>
              <a:t>QUOTENAME(@</a:t>
            </a:r>
            <a:r>
              <a:rPr lang="lv-LV" sz="1400" b="1" dirty="0" err="1"/>
              <a:t>Column</a:t>
            </a:r>
            <a:r>
              <a:rPr lang="lv-LV" sz="1400" b="1" dirty="0"/>
              <a:t>)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Безопасно обрамляет имя колонки в квадратные скобки [</a:t>
            </a:r>
            <a:r>
              <a:rPr lang="lv-LV" sz="1400" dirty="0" err="1"/>
              <a:t>ColumnName</a:t>
            </a:r>
            <a:r>
              <a:rPr lang="lv-LV" sz="1400" dirty="0"/>
              <a:t>].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Предотвращает </a:t>
            </a:r>
            <a:r>
              <a:rPr lang="lv-LV" sz="1400" dirty="0"/>
              <a:t>SQL-</a:t>
            </a:r>
            <a:r>
              <a:rPr lang="ru-RU" sz="1400" dirty="0"/>
              <a:t>инъекции и ошибки, если имя колонки содержит пробелы или спецсимволы.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66583" y="4525061"/>
            <a:ext cx="42789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400" b="1" dirty="0" err="1"/>
              <a:t>sp_executesql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Команда для выполнения динамического </a:t>
            </a:r>
            <a:r>
              <a:rPr lang="lv-LV" sz="1400" dirty="0"/>
              <a:t>SQL </a:t>
            </a:r>
            <a:r>
              <a:rPr lang="ru-RU" sz="1400" dirty="0"/>
              <a:t>с </a:t>
            </a:r>
            <a:r>
              <a:rPr lang="ru-RU" sz="1400" b="1" dirty="0"/>
              <a:t>параметрами</a:t>
            </a:r>
            <a:r>
              <a:rPr lang="ru-RU" sz="1400" dirty="0"/>
              <a:t>.</a:t>
            </a:r>
            <a:endParaRPr lang="ru-RU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Преимущество перед обычным </a:t>
            </a:r>
            <a:r>
              <a:rPr lang="lv-LV" sz="1400" dirty="0"/>
              <a:t>EXEC(@SQL):</a:t>
            </a:r>
            <a:endParaRPr lang="lv-LV" sz="1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ru-RU" sz="1400" dirty="0"/>
              <a:t>Поддерживает </a:t>
            </a:r>
            <a:r>
              <a:rPr lang="ru-RU" sz="1400" b="1" dirty="0"/>
              <a:t>параметры</a:t>
            </a:r>
            <a:r>
              <a:rPr lang="ru-RU" sz="1400" dirty="0"/>
              <a:t>, а значит безопаснее.</a:t>
            </a:r>
            <a:endParaRPr lang="ru-RU" sz="1400" dirty="0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ru-RU" sz="1400" dirty="0"/>
              <a:t>Позволяет </a:t>
            </a:r>
            <a:r>
              <a:rPr lang="ru-RU" sz="1400" b="1" dirty="0"/>
              <a:t>кэшировать план выполнения</a:t>
            </a:r>
            <a:r>
              <a:rPr lang="ru-RU" sz="1400" dirty="0"/>
              <a:t> (повышает производительность).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069124" y="4829519"/>
            <a:ext cx="31476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400" b="1" dirty="0" err="1"/>
              <a:t>N</a:t>
            </a:r>
            <a:r>
              <a:rPr lang="lv-LV" sz="1400" b="1" dirty="0"/>
              <a:t>'@Value NVARCHAR(100)', @Value = @Value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Определяем параметр для динамического </a:t>
            </a:r>
            <a:r>
              <a:rPr lang="lv-LV" sz="1400" dirty="0"/>
              <a:t>SQL (@Value).</a:t>
            </a:r>
            <a:endParaRPr lang="lv-LV" sz="1400" dirty="0"/>
          </a:p>
          <a:p>
            <a:pPr>
              <a:buFont typeface="Arial" panose="020B0604020202090204" pitchFamily="34" charset="0"/>
              <a:buChar char="•"/>
            </a:pPr>
            <a:r>
              <a:rPr lang="ru-RU" sz="1400" dirty="0"/>
              <a:t>Передаём значение переменной из процедуры в запрос.</a:t>
            </a:r>
            <a:endParaRPr lang="ru-RU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16523"/>
            <a:ext cx="10515600" cy="5860440"/>
          </a:xfrm>
        </p:spPr>
        <p:txBody>
          <a:bodyPr>
            <a:normAutofit/>
          </a:bodyPr>
          <a:lstStyle/>
          <a:p>
            <a:r>
              <a:rPr lang="ru-RU" dirty="0"/>
              <a:t>Пример вызова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Зачем нужен динамический </a:t>
            </a:r>
            <a:r>
              <a:rPr lang="lv-LV" dirty="0"/>
              <a:t>SQL</a:t>
            </a:r>
            <a:r>
              <a:rPr lang="ru-RU" altLang="lv-LV" dirty="0"/>
              <a:t>?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200" dirty="0"/>
              <a:t>Применяется, когда:</a:t>
            </a:r>
            <a:endParaRPr lang="ru-RU" sz="2200" dirty="0"/>
          </a:p>
          <a:p>
            <a:pPr lvl="1" algn="just">
              <a:lnSpc>
                <a:spcPct val="150000"/>
              </a:lnSpc>
            </a:pPr>
            <a:r>
              <a:rPr lang="ru-RU" sz="1800" dirty="0"/>
              <a:t>Нужно выбрать </a:t>
            </a:r>
            <a:r>
              <a:rPr lang="ru-RU" sz="1800" b="1" dirty="0"/>
              <a:t>разные колонки</a:t>
            </a:r>
            <a:r>
              <a:rPr lang="ru-RU" sz="1800" dirty="0"/>
              <a:t> или таблицы в зависимости от параметров.</a:t>
            </a:r>
            <a:endParaRPr lang="ru-RU" sz="1800" dirty="0"/>
          </a:p>
          <a:p>
            <a:pPr lvl="1" algn="just">
              <a:lnSpc>
                <a:spcPct val="150000"/>
              </a:lnSpc>
            </a:pPr>
            <a:r>
              <a:rPr lang="ru-RU" sz="1800" dirty="0"/>
              <a:t>Невозможно заранее написать фиксированный </a:t>
            </a:r>
            <a:r>
              <a:rPr lang="lv-LV" sz="1800" dirty="0"/>
              <a:t>SELECT </a:t>
            </a:r>
            <a:r>
              <a:rPr lang="ru-RU" sz="1800" dirty="0"/>
              <a:t>с условием.</a:t>
            </a:r>
            <a:endParaRPr lang="ru-RU" sz="1800" dirty="0"/>
          </a:p>
          <a:p>
            <a:pPr lvl="1" algn="just">
              <a:lnSpc>
                <a:spcPct val="150000"/>
              </a:lnSpc>
            </a:pPr>
            <a:r>
              <a:rPr lang="ru-RU" sz="1800" dirty="0"/>
              <a:t>Хотим писать </a:t>
            </a:r>
            <a:r>
              <a:rPr lang="ru-RU" sz="1800" b="1" dirty="0"/>
              <a:t>универсальные процедуры</a:t>
            </a:r>
            <a:r>
              <a:rPr lang="ru-RU" sz="1800" dirty="0"/>
              <a:t>, которые работают для разных сценариев.</a:t>
            </a:r>
            <a:endParaRPr lang="ru-RU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150" y="921727"/>
            <a:ext cx="72517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662430"/>
            <a:ext cx="9799200" cy="2570400"/>
          </a:xfrm>
        </p:spPr>
        <p:txBody>
          <a:bodyPr/>
          <a:p>
            <a:r>
              <a:rPr lang="ru-RU" altLang="en-US"/>
              <a:t>Пользовательские функции</a:t>
            </a:r>
            <a:endParaRPr lang="ru-RU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Пользовательские функции (</a:t>
            </a:r>
            <a:r>
              <a:rPr lang="lv-LV" dirty="0"/>
              <a:t>UDF</a:t>
            </a:r>
            <a:r>
              <a:rPr lang="ru-RU" dirty="0"/>
              <a:t> - </a:t>
            </a:r>
            <a:r>
              <a:rPr lang="lv-LV" dirty="0" err="1"/>
              <a:t>User-Defined</a:t>
            </a:r>
            <a:r>
              <a:rPr lang="lv-LV" dirty="0"/>
              <a:t> </a:t>
            </a:r>
            <a:r>
              <a:rPr lang="lv-LV" dirty="0" err="1"/>
              <a:t>Function</a:t>
            </a:r>
            <a:r>
              <a:rPr lang="lv-LV" dirty="0"/>
              <a:t>) </a:t>
            </a:r>
            <a:r>
              <a:rPr lang="ru-RU" dirty="0"/>
              <a:t>в </a:t>
            </a:r>
            <a:r>
              <a:rPr lang="lv-LV" dirty="0"/>
              <a:t>MS SQL Server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8330" y="2148840"/>
            <a:ext cx="10968990" cy="410083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b="1" dirty="0"/>
              <a:t>Пользовательская функция</a:t>
            </a:r>
            <a:r>
              <a:rPr lang="ru-RU" dirty="0"/>
              <a:t> — это объект базы данных, который хранится на сервере и возвращает значение (одно или несколько).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Они создаются программистом (в отличие от встроенных функций </a:t>
            </a:r>
            <a:r>
              <a:rPr lang="lv-LV" dirty="0"/>
              <a:t>SQL, </a:t>
            </a:r>
            <a:r>
              <a:rPr lang="ru-RU" dirty="0"/>
              <a:t>например </a:t>
            </a:r>
            <a:r>
              <a:rPr lang="lv-LV" dirty="0"/>
              <a:t>GETDATE() </a:t>
            </a:r>
            <a:r>
              <a:rPr lang="ru-RU" dirty="0"/>
              <a:t>или </a:t>
            </a:r>
            <a:r>
              <a:rPr lang="lv-LV" dirty="0"/>
              <a:t>LEN())</a:t>
            </a:r>
            <a:r>
              <a:rPr lang="ru-R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26831"/>
            <a:ext cx="10515600" cy="545013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Функции позволяют: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инкапсулировать повторяющуюся логику,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упростить и стандартизировать запросы,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повысить читаемость кода.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/>
              <a:t>В отличие от процедур: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функция </a:t>
            </a:r>
            <a:r>
              <a:rPr lang="ru-RU" b="1" dirty="0"/>
              <a:t>обязана возвращать значение</a:t>
            </a:r>
            <a:r>
              <a:rPr lang="ru-RU" dirty="0"/>
              <a:t>,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в функции </a:t>
            </a:r>
            <a:r>
              <a:rPr lang="ru-RU" b="1" dirty="0"/>
              <a:t>нельзя выполнять </a:t>
            </a:r>
            <a:r>
              <a:rPr lang="lv-LV" b="1" dirty="0"/>
              <a:t>DML-</a:t>
            </a:r>
            <a:r>
              <a:rPr lang="ru-RU" b="1" dirty="0"/>
              <a:t>операции</a:t>
            </a:r>
            <a:r>
              <a:rPr lang="ru-RU" dirty="0"/>
              <a:t> (</a:t>
            </a:r>
            <a:r>
              <a:rPr lang="lv-LV" dirty="0"/>
              <a:t>INSERT, UPDATE, DELETE) </a:t>
            </a:r>
            <a:r>
              <a:rPr lang="ru-RU" dirty="0"/>
              <a:t>напрямую (исключение — </a:t>
            </a:r>
            <a:r>
              <a:rPr lang="lv-LV" dirty="0" err="1"/>
              <a:t>table-valued</a:t>
            </a:r>
            <a:r>
              <a:rPr lang="lv-LV" dirty="0"/>
              <a:t> </a:t>
            </a:r>
            <a:r>
              <a:rPr lang="lv-LV" dirty="0" err="1"/>
              <a:t>function</a:t>
            </a:r>
            <a:r>
              <a:rPr lang="lv-LV" dirty="0"/>
              <a:t>, </a:t>
            </a:r>
            <a:r>
              <a:rPr lang="ru-RU" dirty="0"/>
              <a:t>возвращающая таблицу).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32338"/>
            <a:ext cx="10515600" cy="5344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Ограничения </a:t>
            </a:r>
            <a:r>
              <a:rPr lang="lv-LV" dirty="0"/>
              <a:t>UDF</a:t>
            </a:r>
            <a:endParaRPr lang="lv-LV" dirty="0"/>
          </a:p>
          <a:p>
            <a:pPr lvl="1" algn="just">
              <a:lnSpc>
                <a:spcPct val="150000"/>
              </a:lnSpc>
            </a:pPr>
            <a:r>
              <a:rPr lang="ru-RU" b="1" dirty="0"/>
              <a:t>Нельзя</a:t>
            </a:r>
            <a:r>
              <a:rPr lang="ru-RU" dirty="0"/>
              <a:t> использовать </a:t>
            </a:r>
            <a:r>
              <a:rPr lang="lv-LV" dirty="0"/>
              <a:t>INSERT, UPDATE, DELETE </a:t>
            </a:r>
            <a:r>
              <a:rPr lang="ru-RU" dirty="0"/>
              <a:t>напрямую (кроме через функции, вызывающие таблицы).</a:t>
            </a:r>
            <a:endParaRPr lang="lv-LV" dirty="0"/>
          </a:p>
          <a:p>
            <a:pPr lvl="1" algn="just">
              <a:lnSpc>
                <a:spcPct val="150000"/>
              </a:lnSpc>
            </a:pPr>
            <a:r>
              <a:rPr lang="ru-RU" b="1" dirty="0"/>
              <a:t>Нельзя</a:t>
            </a:r>
            <a:r>
              <a:rPr lang="ru-RU" dirty="0"/>
              <a:t> изменять состояние базы — только читать.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Можно вызывать только детерминированные операции (напр., </a:t>
            </a:r>
            <a:r>
              <a:rPr lang="lv-LV" dirty="0"/>
              <a:t>ABS(), LEN() </a:t>
            </a:r>
            <a:r>
              <a:rPr lang="ru-RU" dirty="0"/>
              <a:t>и </a:t>
            </a:r>
            <a:r>
              <a:rPr lang="ru-RU" dirty="0" err="1"/>
              <a:t>т.д</a:t>
            </a:r>
            <a:r>
              <a:rPr lang="ru-RU" dirty="0"/>
              <a:t>). </a:t>
            </a:r>
            <a:r>
              <a:rPr lang="ru-RU" b="1" dirty="0"/>
              <a:t>Нельзя</a:t>
            </a:r>
            <a:r>
              <a:rPr lang="ru-RU" dirty="0"/>
              <a:t> недетерминированные - </a:t>
            </a:r>
            <a:r>
              <a:rPr lang="lv-LV" dirty="0"/>
              <a:t>NEWID(), GETDATE() </a:t>
            </a:r>
            <a:r>
              <a:rPr lang="ru-RU" dirty="0"/>
              <a:t>и пр. — хотя есть обходы.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Функции не поддерживают </a:t>
            </a:r>
            <a:r>
              <a:rPr lang="lv-LV" b="1" dirty="0"/>
              <a:t>TRY...CATCH</a:t>
            </a:r>
            <a:r>
              <a:rPr lang="lv-LV" dirty="0"/>
              <a:t> </a:t>
            </a:r>
            <a:r>
              <a:rPr lang="ru-RU" dirty="0"/>
              <a:t>внутри.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пользовательских функций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1. </a:t>
            </a:r>
            <a:r>
              <a:rPr lang="lv-LV" b="1" dirty="0" err="1"/>
              <a:t>Scalar</a:t>
            </a:r>
            <a:r>
              <a:rPr lang="lv-LV" b="1" dirty="0"/>
              <a:t> </a:t>
            </a:r>
            <a:r>
              <a:rPr lang="lv-LV" b="1" dirty="0" err="1"/>
              <a:t>Functions</a:t>
            </a:r>
            <a:r>
              <a:rPr lang="lv-LV" b="1" dirty="0"/>
              <a:t> (</a:t>
            </a:r>
            <a:r>
              <a:rPr lang="ru-RU" b="1" dirty="0"/>
              <a:t>скалярные функции)</a:t>
            </a:r>
            <a:endParaRPr lang="ru-RU" b="1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Возвращают </a:t>
            </a:r>
            <a:r>
              <a:rPr lang="ru-RU" b="1" dirty="0"/>
              <a:t>одно значение</a:t>
            </a:r>
            <a:r>
              <a:rPr lang="ru-RU" dirty="0"/>
              <a:t> (число, строку, дату и т.д.).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Используются в </a:t>
            </a:r>
            <a:r>
              <a:rPr lang="lv-LV" dirty="0"/>
              <a:t>SELECT, WHERE, ORDER BY </a:t>
            </a:r>
            <a:r>
              <a:rPr lang="ru-RU" dirty="0"/>
              <a:t>и т.д.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Пример: вычисление возраста по дате рождения.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Шрифт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0962" y="869022"/>
            <a:ext cx="6391027" cy="4351338"/>
          </a:xfrm>
        </p:spPr>
      </p:pic>
      <p:sp>
        <p:nvSpPr>
          <p:cNvPr id="7" name="TextBox 6"/>
          <p:cNvSpPr txBox="1"/>
          <p:nvPr/>
        </p:nvSpPr>
        <p:spPr>
          <a:xfrm>
            <a:off x="7547119" y="712656"/>
            <a:ext cx="454601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600" dirty="0"/>
              <a:t>* CREATE FUNCTION — </a:t>
            </a:r>
            <a:r>
              <a:rPr lang="ru-RU" sz="1600" dirty="0"/>
              <a:t>создаём новую функцию.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</a:t>
            </a:r>
            <a:r>
              <a:rPr lang="lv-LV" sz="1600" dirty="0" err="1"/>
              <a:t>dbo.GetAge</a:t>
            </a:r>
            <a:r>
              <a:rPr lang="lv-LV" sz="1600" dirty="0"/>
              <a:t> — </a:t>
            </a:r>
            <a:r>
              <a:rPr lang="ru-RU" sz="1600" dirty="0"/>
              <a:t>имя функции (в схеме </a:t>
            </a:r>
            <a:r>
              <a:rPr lang="lv-LV" sz="1600" dirty="0" err="1"/>
              <a:t>dbo</a:t>
            </a:r>
            <a:r>
              <a:rPr lang="lv-LV" sz="1600" dirty="0"/>
              <a:t>).</a:t>
            </a:r>
            <a:endParaRPr lang="lv-LV" sz="1600" dirty="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lv-LV" sz="1600" dirty="0"/>
          </a:p>
          <a:p>
            <a:r>
              <a:rPr lang="lv-LV" sz="1600" dirty="0"/>
              <a:t>* @</a:t>
            </a:r>
            <a:r>
              <a:rPr lang="lv-LV" sz="1600" dirty="0" err="1"/>
              <a:t>BirthDate</a:t>
            </a:r>
            <a:r>
              <a:rPr lang="lv-LV" sz="1600" dirty="0"/>
              <a:t> DATE — </a:t>
            </a:r>
            <a:r>
              <a:rPr lang="ru-RU" sz="1600" dirty="0"/>
              <a:t>входной параметр, который принимает дату рождения.</a:t>
            </a:r>
            <a:endParaRPr lang="lv-LV" sz="1600" dirty="0"/>
          </a:p>
          <a:p>
            <a:endParaRPr lang="ru-RU" sz="1600" dirty="0"/>
          </a:p>
          <a:p>
            <a:r>
              <a:rPr lang="lv-LV" sz="1600" dirty="0"/>
              <a:t>* RETURNS INT — </a:t>
            </a:r>
            <a:r>
              <a:rPr lang="ru-RU" sz="1600" dirty="0"/>
              <a:t>функция возвращает целое число.</a:t>
            </a:r>
            <a:endParaRPr lang="lv-LV" sz="1600" dirty="0"/>
          </a:p>
          <a:p>
            <a:endParaRPr lang="ru-RU" sz="1600" dirty="0"/>
          </a:p>
          <a:p>
            <a:r>
              <a:rPr lang="lv-LV" sz="1600" dirty="0"/>
              <a:t>* DATEDIFF(YEAR, @</a:t>
            </a:r>
            <a:r>
              <a:rPr lang="lv-LV" sz="1600" dirty="0" err="1"/>
              <a:t>BirthDate</a:t>
            </a:r>
            <a:r>
              <a:rPr lang="lv-LV" sz="1600" dirty="0"/>
              <a:t>, GETDATE()) — </a:t>
            </a:r>
            <a:r>
              <a:rPr lang="ru-RU" sz="1600" dirty="0"/>
              <a:t>считает разницу в годах между датой рождения и сегодняшней датой.</a:t>
            </a:r>
            <a:endParaRPr lang="lv-LV" sz="1600" dirty="0"/>
          </a:p>
          <a:p>
            <a:endParaRPr lang="lv-LV" sz="1600" dirty="0"/>
          </a:p>
          <a:p>
            <a:r>
              <a:rPr lang="lv-LV" sz="1600" dirty="0"/>
              <a:t>* GETDATE() – </a:t>
            </a:r>
            <a:r>
              <a:rPr lang="ru-RU" sz="1600" dirty="0"/>
              <a:t>встроенная системная функция</a:t>
            </a:r>
            <a:endParaRPr lang="lv-LV" sz="1600" dirty="0"/>
          </a:p>
          <a:p>
            <a:endParaRPr lang="ru-RU" sz="1600" dirty="0"/>
          </a:p>
          <a:p>
            <a:r>
              <a:rPr lang="lv-LV" sz="1600" dirty="0"/>
              <a:t>* RETURN — </a:t>
            </a:r>
            <a:r>
              <a:rPr lang="ru-RU" sz="1600" dirty="0"/>
              <a:t>обязательный оператор для возврата результата.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SELECT </a:t>
            </a:r>
            <a:r>
              <a:rPr lang="lv-LV" sz="1600" dirty="0" err="1"/>
              <a:t>dbo.GetAge</a:t>
            </a:r>
            <a:r>
              <a:rPr lang="lv-LV" sz="1600" dirty="0"/>
              <a:t>('1990-05-10') — </a:t>
            </a:r>
            <a:r>
              <a:rPr lang="ru-RU" sz="1600" dirty="0"/>
              <a:t>вызов функции в запросе.</a:t>
            </a:r>
            <a:endParaRPr lang="ru-RU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61292"/>
            <a:ext cx="10515600" cy="521567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2. </a:t>
            </a:r>
            <a:r>
              <a:rPr lang="lv-LV" b="1" dirty="0" err="1"/>
              <a:t>Inline</a:t>
            </a:r>
            <a:r>
              <a:rPr lang="lv-LV" b="1" dirty="0"/>
              <a:t> Table-</a:t>
            </a:r>
            <a:r>
              <a:rPr lang="lv-LV" b="1" dirty="0" err="1"/>
              <a:t>Valued</a:t>
            </a:r>
            <a:r>
              <a:rPr lang="lv-LV" b="1" dirty="0"/>
              <a:t> </a:t>
            </a:r>
            <a:r>
              <a:rPr lang="lv-LV" b="1" dirty="0" err="1"/>
              <a:t>Functions</a:t>
            </a:r>
            <a:r>
              <a:rPr lang="lv-LV" b="1" dirty="0"/>
              <a:t> (</a:t>
            </a:r>
            <a:r>
              <a:rPr lang="ru-RU" b="1" dirty="0"/>
              <a:t>встраиваемые табличные функции)</a:t>
            </a:r>
            <a:endParaRPr lang="ru-RU" b="1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Возвращают </a:t>
            </a:r>
            <a:r>
              <a:rPr lang="ru-RU" b="1" dirty="0"/>
              <a:t>таблицу</a:t>
            </a:r>
            <a:r>
              <a:rPr lang="ru-RU" dirty="0"/>
              <a:t> (результат одного </a:t>
            </a:r>
            <a:r>
              <a:rPr lang="lv-LV" dirty="0"/>
              <a:t>SELECT).</a:t>
            </a:r>
            <a:endParaRPr lang="lv-LV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Могут принимать параметры.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Более быстрые, чем </a:t>
            </a:r>
            <a:r>
              <a:rPr lang="ru-RU" dirty="0" err="1"/>
              <a:t>многооператорные</a:t>
            </a:r>
            <a:r>
              <a:rPr lang="ru-RU" dirty="0"/>
              <a:t> (так как оптимизатор может «подставить» их в запрос).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1109345"/>
            <a:ext cx="7442200" cy="4283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60678" y="622458"/>
            <a:ext cx="43155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600" dirty="0"/>
              <a:t>* </a:t>
            </a:r>
            <a:r>
              <a:rPr lang="lv-LV" sz="1600" dirty="0" err="1"/>
              <a:t>dbo.GetOrdersByCustomer</a:t>
            </a:r>
            <a:r>
              <a:rPr lang="lv-LV" sz="1600" dirty="0"/>
              <a:t> — </a:t>
            </a:r>
            <a:r>
              <a:rPr lang="ru-RU" sz="1600" dirty="0"/>
              <a:t>имя функции в схеме </a:t>
            </a:r>
            <a:r>
              <a:rPr lang="lv-LV" sz="1600" dirty="0" err="1"/>
              <a:t>dbo</a:t>
            </a:r>
            <a:r>
              <a:rPr lang="lv-LV" sz="1600" dirty="0"/>
              <a:t>.</a:t>
            </a:r>
            <a:endParaRPr lang="lv-LV" sz="1600" dirty="0"/>
          </a:p>
          <a:p>
            <a:endParaRPr lang="lv-LV" sz="1600" dirty="0"/>
          </a:p>
          <a:p>
            <a:r>
              <a:rPr lang="lv-LV" sz="1600" dirty="0"/>
              <a:t>* @</a:t>
            </a:r>
            <a:r>
              <a:rPr lang="lv-LV" sz="1600" dirty="0" err="1"/>
              <a:t>CustomerID</a:t>
            </a:r>
            <a:r>
              <a:rPr lang="lv-LV" sz="1600" dirty="0"/>
              <a:t> INT — </a:t>
            </a:r>
            <a:r>
              <a:rPr lang="ru-RU" sz="1600" dirty="0"/>
              <a:t>входной параметр, </a:t>
            </a:r>
            <a:r>
              <a:rPr lang="lv-LV" sz="1600" dirty="0"/>
              <a:t>ID </a:t>
            </a:r>
            <a:r>
              <a:rPr lang="ru-RU" sz="1600" dirty="0"/>
              <a:t>клиента, по которому выбираются заказы.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RETURNS TABLE — </a:t>
            </a:r>
            <a:r>
              <a:rPr lang="ru-RU" sz="1600" dirty="0"/>
              <a:t>функция возвращает таблицу.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RETURN (SELECT …) — </a:t>
            </a:r>
            <a:r>
              <a:rPr lang="ru-RU" sz="1600" dirty="0"/>
              <a:t>определяет таблицу, которую возвращает функция.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WHERE </a:t>
            </a:r>
            <a:r>
              <a:rPr lang="lv-LV" sz="1600" dirty="0" err="1"/>
              <a:t>CustomerID</a:t>
            </a:r>
            <a:r>
              <a:rPr lang="lv-LV" sz="1600" dirty="0"/>
              <a:t> = @</a:t>
            </a:r>
            <a:r>
              <a:rPr lang="lv-LV" sz="1600" dirty="0" err="1"/>
              <a:t>CustomerID</a:t>
            </a:r>
            <a:r>
              <a:rPr lang="lv-LV" sz="1600" dirty="0"/>
              <a:t> — </a:t>
            </a:r>
            <a:r>
              <a:rPr lang="ru-RU" sz="1600" dirty="0"/>
              <a:t>фильтр по клиенту.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SELECT * FROM </a:t>
            </a:r>
            <a:r>
              <a:rPr lang="lv-LV" sz="1600" dirty="0" err="1"/>
              <a:t>dbo.GetOrdersByCustomer</a:t>
            </a:r>
            <a:r>
              <a:rPr lang="lv-LV" sz="1600" dirty="0"/>
              <a:t>(5) — </a:t>
            </a:r>
            <a:r>
              <a:rPr lang="ru-RU" sz="1600" dirty="0"/>
              <a:t>вызов функции, возвращающий все заказы клиента с </a:t>
            </a:r>
            <a:r>
              <a:rPr lang="lv-LV" sz="1600" dirty="0"/>
              <a:t>ID = 5.</a:t>
            </a:r>
            <a:endParaRPr lang="lv-LV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73723"/>
            <a:ext cx="10515600" cy="540324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/>
              <a:t>3. </a:t>
            </a:r>
            <a:r>
              <a:rPr lang="lv-LV" b="1" dirty="0" err="1"/>
              <a:t>Multi-Statement</a:t>
            </a:r>
            <a:r>
              <a:rPr lang="lv-LV" b="1" dirty="0"/>
              <a:t> Table-</a:t>
            </a:r>
            <a:r>
              <a:rPr lang="lv-LV" b="1" dirty="0" err="1"/>
              <a:t>Valued</a:t>
            </a:r>
            <a:r>
              <a:rPr lang="lv-LV" b="1" dirty="0"/>
              <a:t> </a:t>
            </a:r>
            <a:r>
              <a:rPr lang="lv-LV" b="1" dirty="0" err="1"/>
              <a:t>Functions</a:t>
            </a:r>
            <a:r>
              <a:rPr lang="lv-LV" b="1" dirty="0"/>
              <a:t> (</a:t>
            </a:r>
            <a:r>
              <a:rPr lang="ru-RU" b="1" dirty="0" err="1"/>
              <a:t>многооператорные</a:t>
            </a:r>
            <a:r>
              <a:rPr lang="ru-RU" b="1" dirty="0"/>
              <a:t> табличные функции)</a:t>
            </a:r>
            <a:endParaRPr lang="ru-RU" b="1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Возвращают таблицу, но внутри можно выполнять несколько операторов.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Нужно явно объявить таблицу-переменную, заполнять её и возвращать.</a:t>
            </a:r>
            <a:endParaRPr lang="ru-RU" dirty="0"/>
          </a:p>
          <a:p>
            <a:pPr lvl="1" algn="just">
              <a:lnSpc>
                <a:spcPct val="150000"/>
              </a:lnSpc>
            </a:pPr>
            <a:r>
              <a:rPr lang="ru-RU" dirty="0"/>
              <a:t>Гибкие, но медленнее </a:t>
            </a:r>
            <a:r>
              <a:rPr lang="lv-LV" dirty="0" err="1"/>
              <a:t>inline</a:t>
            </a:r>
            <a:r>
              <a:rPr lang="lv-LV" dirty="0"/>
              <a:t>-</a:t>
            </a:r>
            <a:r>
              <a:rPr lang="ru-RU" dirty="0"/>
              <a:t>функций.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Шрифт&#10;&#10;Автоматически созданное описание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4040" y="683797"/>
            <a:ext cx="5973602" cy="5271526"/>
          </a:xfrm>
        </p:spPr>
      </p:pic>
      <p:sp>
        <p:nvSpPr>
          <p:cNvPr id="7" name="TextBox 6"/>
          <p:cNvSpPr txBox="1"/>
          <p:nvPr/>
        </p:nvSpPr>
        <p:spPr>
          <a:xfrm>
            <a:off x="6606022" y="683797"/>
            <a:ext cx="525193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sz="1600" dirty="0"/>
              <a:t>* </a:t>
            </a:r>
            <a:r>
              <a:rPr lang="lv-LV" sz="1600" dirty="0" err="1"/>
              <a:t>dbo.GetCustomerSummary</a:t>
            </a:r>
            <a:r>
              <a:rPr lang="lv-LV" sz="1600" dirty="0"/>
              <a:t> — </a:t>
            </a:r>
            <a:r>
              <a:rPr lang="ru-RU" sz="1600" dirty="0"/>
              <a:t>имя функции в схеме </a:t>
            </a:r>
            <a:r>
              <a:rPr lang="lv-LV" sz="1600" dirty="0" err="1"/>
              <a:t>dbo</a:t>
            </a:r>
            <a:r>
              <a:rPr lang="lv-LV" sz="1600" dirty="0"/>
              <a:t>.</a:t>
            </a:r>
            <a:endParaRPr lang="lv-LV" sz="1600" dirty="0"/>
          </a:p>
          <a:p>
            <a:endParaRPr lang="lv-LV" sz="1600" dirty="0"/>
          </a:p>
          <a:p>
            <a:r>
              <a:rPr lang="lv-LV" sz="1600" dirty="0"/>
              <a:t>* @</a:t>
            </a:r>
            <a:r>
              <a:rPr lang="lv-LV" sz="1600" dirty="0" err="1"/>
              <a:t>CustomerID</a:t>
            </a:r>
            <a:r>
              <a:rPr lang="lv-LV" sz="1600" dirty="0"/>
              <a:t> INT — </a:t>
            </a:r>
            <a:r>
              <a:rPr lang="ru-RU" sz="1600" dirty="0"/>
              <a:t>входной параметр, по которому фильтруются данные.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RETURNS @</a:t>
            </a:r>
            <a:r>
              <a:rPr lang="lv-LV" sz="1600" dirty="0" err="1"/>
              <a:t>Summary</a:t>
            </a:r>
            <a:r>
              <a:rPr lang="lv-LV" sz="1600" dirty="0"/>
              <a:t> TABLE (…) — </a:t>
            </a:r>
            <a:r>
              <a:rPr lang="ru-RU" sz="1600" dirty="0"/>
              <a:t>функция возвращает таблицу с колонками </a:t>
            </a:r>
            <a:r>
              <a:rPr lang="lv-LV" sz="1600" dirty="0" err="1"/>
              <a:t>TotalOrders</a:t>
            </a:r>
            <a:r>
              <a:rPr lang="lv-LV" sz="1600" dirty="0"/>
              <a:t> </a:t>
            </a:r>
            <a:r>
              <a:rPr lang="ru-RU" sz="1600" dirty="0"/>
              <a:t>и </a:t>
            </a:r>
            <a:r>
              <a:rPr lang="lv-LV" sz="1600" dirty="0" err="1"/>
              <a:t>TotalAmount</a:t>
            </a:r>
            <a:r>
              <a:rPr lang="lv-LV" sz="1600" dirty="0"/>
              <a:t>.</a:t>
            </a:r>
            <a:endParaRPr lang="lv-LV" sz="1600" dirty="0"/>
          </a:p>
          <a:p>
            <a:endParaRPr lang="lv-LV" sz="1600" dirty="0"/>
          </a:p>
          <a:p>
            <a:r>
              <a:rPr lang="lv-LV" sz="1600" dirty="0"/>
              <a:t>* INSERT INTO @</a:t>
            </a:r>
            <a:r>
              <a:rPr lang="lv-LV" sz="1600" dirty="0" err="1"/>
              <a:t>Summary</a:t>
            </a:r>
            <a:r>
              <a:rPr lang="lv-LV" sz="1600" dirty="0"/>
              <a:t> SELECT … — </a:t>
            </a:r>
            <a:r>
              <a:rPr lang="ru-RU" sz="1600" dirty="0"/>
              <a:t>заполняем таблицу-переменную агрегированными данными.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RETURN — </a:t>
            </a:r>
            <a:r>
              <a:rPr lang="ru-RU" sz="1600" dirty="0"/>
              <a:t>обязательный оператор для возврата результата функции.</a:t>
            </a:r>
            <a:endParaRPr lang="ru-RU" sz="1600" dirty="0"/>
          </a:p>
          <a:p>
            <a:endParaRPr lang="lv-LV" sz="1600" dirty="0"/>
          </a:p>
          <a:p>
            <a:r>
              <a:rPr lang="lv-LV" sz="1600" dirty="0"/>
              <a:t>* SELECT * FROM </a:t>
            </a:r>
            <a:r>
              <a:rPr lang="lv-LV" sz="1600" dirty="0" err="1"/>
              <a:t>dbo.GetCustomerSummary</a:t>
            </a:r>
            <a:r>
              <a:rPr lang="lv-LV" sz="1600" dirty="0"/>
              <a:t>(3) — </a:t>
            </a:r>
            <a:r>
              <a:rPr lang="ru-RU" sz="1600" dirty="0"/>
              <a:t>вызов функции, возвращающий таблицу со сводными данными для клиента с </a:t>
            </a:r>
            <a:r>
              <a:rPr lang="lv-LV" sz="1600" dirty="0"/>
              <a:t>ID = 3.</a:t>
            </a:r>
            <a:endParaRPr lang="lv-LV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и удаление функций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Изменение: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Удаление</a:t>
            </a:r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136" y="2132369"/>
            <a:ext cx="4796203" cy="1527453"/>
          </a:xfrm>
          <a:prstGeom prst="rect">
            <a:avLst/>
          </a:prstGeom>
        </p:spPr>
      </p:pic>
      <p:pic>
        <p:nvPicPr>
          <p:cNvPr id="6" name="Объект 4" descr="Изображение выглядит как текст, снимок экрана, Шрифт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970" y="1584325"/>
            <a:ext cx="6202045" cy="4222750"/>
          </a:xfrm>
          <a:prstGeom prst="rect">
            <a:avLst/>
          </a:prstGeom>
        </p:spPr>
      </p:pic>
      <p:pic>
        <p:nvPicPr>
          <p:cNvPr id="8" name="Рисунок 7" descr="Изображение выглядит как Шрифт, текст, Графика, белый&#10;&#10;Автоматически созданное описани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36" y="4703884"/>
            <a:ext cx="2971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dirty="0"/>
              <a:t>Самые часто используемые: </a:t>
            </a:r>
            <a:r>
              <a:rPr lang="lv-LV" b="1" dirty="0" err="1"/>
              <a:t>Scalar</a:t>
            </a:r>
            <a:r>
              <a:rPr lang="lv-LV" dirty="0"/>
              <a:t> (</a:t>
            </a:r>
            <a:r>
              <a:rPr lang="ru-RU" dirty="0"/>
              <a:t>возврат значения) и </a:t>
            </a:r>
            <a:r>
              <a:rPr lang="lv-LV" b="1" dirty="0" err="1"/>
              <a:t>Inline</a:t>
            </a:r>
            <a:r>
              <a:rPr lang="lv-LV" b="1" dirty="0"/>
              <a:t> TVF</a:t>
            </a:r>
            <a:r>
              <a:rPr lang="lv-LV" dirty="0"/>
              <a:t> (</a:t>
            </a:r>
            <a:r>
              <a:rPr lang="ru-RU" dirty="0"/>
              <a:t>возврат таблицы).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lv-LV" b="1" dirty="0" err="1"/>
              <a:t>Multi-Statement</a:t>
            </a:r>
            <a:r>
              <a:rPr lang="lv-LV" b="1" dirty="0"/>
              <a:t> TVF</a:t>
            </a:r>
            <a:r>
              <a:rPr lang="lv-LV" dirty="0"/>
              <a:t> </a:t>
            </a:r>
            <a:r>
              <a:rPr lang="ru-RU" dirty="0"/>
              <a:t>применяются для более сложной логики.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lv-LV" b="1" dirty="0"/>
              <a:t>CLR-</a:t>
            </a:r>
            <a:r>
              <a:rPr lang="ru-RU" b="1" dirty="0"/>
              <a:t>функции</a:t>
            </a:r>
            <a:r>
              <a:rPr lang="ru-RU" dirty="0"/>
              <a:t> — редкость, но полезны в </a:t>
            </a:r>
            <a:r>
              <a:rPr lang="ru-RU" dirty="0" err="1"/>
              <a:t>спецзадачах</a:t>
            </a:r>
            <a:r>
              <a:rPr lang="ru-RU" dirty="0"/>
              <a:t>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/>
              <a:t>Системные функции</a:t>
            </a:r>
            <a:r>
              <a:rPr lang="ru-RU" dirty="0"/>
              <a:t> — встроены и используются везде.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165" y="88900"/>
            <a:ext cx="10968990" cy="426720"/>
          </a:xfrm>
        </p:spPr>
        <p:txBody>
          <a:bodyPr>
            <a:normAutofit fontScale="90000"/>
          </a:bodyPr>
          <a:lstStyle/>
          <a:p>
            <a:r>
              <a:rPr lang="ru-RU" sz="2220" b="1" dirty="0">
                <a:latin typeface="Helvetica Neue Bold" panose="02000503000000020004" charset="0"/>
                <a:cs typeface="Helvetica Neue Bold" panose="02000503000000020004" charset="0"/>
              </a:rPr>
              <a:t>Виды</a:t>
            </a:r>
            <a:r>
              <a:rPr lang="en-US" sz="2220" b="1" dirty="0">
                <a:latin typeface="Helvetica Neue Bold" panose="02000503000000020004" charset="0"/>
                <a:cs typeface="Helvetica Neue Bold" panose="02000503000000020004" charset="0"/>
              </a:rPr>
              <a:t> функций</a:t>
            </a:r>
            <a:endParaRPr lang="en-US" sz="2220" b="1" dirty="0">
              <a:latin typeface="Helvetica Neue Bold" panose="02000503000000020004" charset="0"/>
              <a:cs typeface="Helvetica Neue Bold" panose="0200050300000002000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77165" y="591185"/>
          <a:ext cx="11640820" cy="6149340"/>
        </p:xfrm>
        <a:graphic>
          <a:graphicData uri="http://schemas.openxmlformats.org/drawingml/2006/table">
            <a:tbl>
              <a:tblPr/>
              <a:tblGrid>
                <a:gridCol w="3018790"/>
                <a:gridCol w="3856990"/>
                <a:gridCol w="4765040"/>
              </a:tblGrid>
              <a:tr h="293370"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Тип функции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/>
                        <a:t>Описание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Где хранятся</a:t>
                      </a:r>
                      <a:endParaRPr lang="ru-RU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r>
                        <a:rPr lang="ru-RU" sz="1600" b="1"/>
                        <a:t>Скалярные функции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Scalar UDF)</a:t>
                      </a:r>
                      <a:endParaRPr lang="lv-LV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Возвращают одно значение (число, строку, дату и т. п.). Используются как встроенные функции (</a:t>
                      </a:r>
                      <a:r>
                        <a:rPr lang="lv-LV" sz="1600"/>
                        <a:t>LEN(), GETDATE() </a:t>
                      </a:r>
                      <a:r>
                        <a:rPr lang="ru-RU" sz="1600"/>
                        <a:t>и т. д.).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Functions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Scalar-valued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Functions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sys.objects</a:t>
                      </a:r>
                      <a:r>
                        <a:rPr lang="lv-LV" sz="1600" dirty="0"/>
                        <a:t> (</a:t>
                      </a:r>
                      <a:r>
                        <a:rPr lang="lv-LV" sz="1600" dirty="0" err="1"/>
                        <a:t>type</a:t>
                      </a:r>
                      <a:r>
                        <a:rPr lang="lv-LV" sz="1600" dirty="0"/>
                        <a:t> = 'FN'), </a:t>
                      </a:r>
                      <a:r>
                        <a:rPr lang="lv-LV" sz="1600" dirty="0" err="1"/>
                        <a:t>sys.sql_modules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8730">
                <a:tc>
                  <a:txBody>
                    <a:bodyPr/>
                    <a:lstStyle/>
                    <a:p>
                      <a:r>
                        <a:rPr lang="ru-RU" sz="1600" b="1"/>
                        <a:t>Многооператорные табличные функции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Multi-Statement Table-Valued Function, MSTVF)</a:t>
                      </a:r>
                      <a:endParaRPr lang="lv-LV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Возвращают таблицу, внутри можно писать сложную бизнес-логику (</a:t>
                      </a:r>
                      <a:r>
                        <a:rPr lang="lv-LV" sz="1600"/>
                        <a:t>BEGIN … END).</a:t>
                      </a:r>
                      <a:endParaRPr lang="lv-LV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Functions</a:t>
                      </a:r>
                      <a:r>
                        <a:rPr lang="lv-LV" sz="1600" dirty="0"/>
                        <a:t> → Table-</a:t>
                      </a:r>
                      <a:r>
                        <a:rPr lang="lv-LV" sz="1600" dirty="0" err="1"/>
                        <a:t>valued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Functions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sys.objects</a:t>
                      </a:r>
                      <a:r>
                        <a:rPr lang="lv-LV" sz="1600" dirty="0"/>
                        <a:t> (</a:t>
                      </a:r>
                      <a:r>
                        <a:rPr lang="lv-LV" sz="1600" dirty="0" err="1"/>
                        <a:t>type</a:t>
                      </a:r>
                      <a:r>
                        <a:rPr lang="lv-LV" sz="1600" dirty="0"/>
                        <a:t> = 'TF'), </a:t>
                      </a:r>
                      <a:r>
                        <a:rPr lang="lv-LV" sz="1600" dirty="0" err="1"/>
                        <a:t>sys.sql_modules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8730">
                <a:tc>
                  <a:txBody>
                    <a:bodyPr/>
                    <a:lstStyle/>
                    <a:p>
                      <a:r>
                        <a:rPr lang="ru-RU" sz="1600" b="1"/>
                        <a:t>Встроенные табличные функции</a:t>
                      </a:r>
                      <a:r>
                        <a:rPr lang="ru-RU" sz="1600"/>
                        <a:t> (</a:t>
                      </a:r>
                      <a:r>
                        <a:rPr lang="lv-LV" sz="1600"/>
                        <a:t>Inline Table-Valued Function, ITVF)</a:t>
                      </a:r>
                      <a:endParaRPr lang="lv-LV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Возвращают таблицу на основе одного </a:t>
                      </a:r>
                      <a:r>
                        <a:rPr lang="lv-LV" sz="1600" dirty="0"/>
                        <a:t>SELECT (</a:t>
                      </a:r>
                      <a:r>
                        <a:rPr lang="ru-RU" sz="1600" dirty="0"/>
                        <a:t>без </a:t>
                      </a:r>
                      <a:r>
                        <a:rPr lang="lv-LV" sz="1600" dirty="0"/>
                        <a:t>BEGIN … END). </a:t>
                      </a:r>
                      <a:r>
                        <a:rPr lang="ru-RU" sz="1600" dirty="0"/>
                        <a:t>Более быстрые, чем </a:t>
                      </a:r>
                      <a:r>
                        <a:rPr lang="lv-LV" sz="1600" dirty="0"/>
                        <a:t>MSTVF.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Functions</a:t>
                      </a:r>
                      <a:r>
                        <a:rPr lang="lv-LV" sz="1600" dirty="0"/>
                        <a:t> → Table-</a:t>
                      </a:r>
                      <a:r>
                        <a:rPr lang="lv-LV" sz="1600" dirty="0" err="1"/>
                        <a:t>valued</a:t>
                      </a:r>
                      <a:r>
                        <a:rPr lang="lv-LV" sz="1600" dirty="0"/>
                        <a:t> </a:t>
                      </a:r>
                      <a:r>
                        <a:rPr lang="lv-LV" sz="1600" dirty="0" err="1"/>
                        <a:t>Functions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sys.objects</a:t>
                      </a:r>
                      <a:r>
                        <a:rPr lang="lv-LV" sz="1600" dirty="0"/>
                        <a:t> (</a:t>
                      </a:r>
                      <a:r>
                        <a:rPr lang="lv-LV" sz="1600" dirty="0" err="1"/>
                        <a:t>type</a:t>
                      </a:r>
                      <a:r>
                        <a:rPr lang="lv-LV" sz="1600" dirty="0"/>
                        <a:t> = 'IF'), </a:t>
                      </a:r>
                      <a:r>
                        <a:rPr lang="lv-LV" sz="1600" dirty="0" err="1"/>
                        <a:t>sys.sql_modules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4890">
                <a:tc>
                  <a:txBody>
                    <a:bodyPr/>
                    <a:lstStyle/>
                    <a:p>
                      <a:r>
                        <a:rPr lang="ru-RU" sz="1600" b="1"/>
                        <a:t>Системные функции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Предустановленные в </a:t>
                      </a:r>
                      <a:r>
                        <a:rPr lang="lv-LV" sz="1600"/>
                        <a:t>SQL Server (GETDATE(), SUM(), CAST(), </a:t>
                      </a:r>
                      <a:r>
                        <a:rPr lang="ru-RU" sz="1600"/>
                        <a:t>и др.). Доступны во всех базах.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 отображаются в </a:t>
                      </a:r>
                      <a:r>
                        <a:rPr lang="lv-LV" sz="1600" dirty="0"/>
                        <a:t>SSMS </a:t>
                      </a:r>
                      <a:r>
                        <a:rPr lang="ru-RU" sz="1600" dirty="0"/>
                        <a:t>как отдельные объекты.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sys.all_objects</a:t>
                      </a:r>
                      <a:r>
                        <a:rPr lang="lv-LV" sz="1600" dirty="0"/>
                        <a:t> (</a:t>
                      </a:r>
                      <a:r>
                        <a:rPr lang="lv-LV" sz="1600" dirty="0" err="1"/>
                        <a:t>type</a:t>
                      </a:r>
                      <a:r>
                        <a:rPr lang="lv-LV" sz="1600" dirty="0"/>
                        <a:t> = 'FN', 'FS', 'FT')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4890">
                <a:tc>
                  <a:txBody>
                    <a:bodyPr/>
                    <a:lstStyle/>
                    <a:p>
                      <a:r>
                        <a:rPr lang="lv-LV" sz="1600" b="1"/>
                        <a:t>CLR-</a:t>
                      </a:r>
                      <a:r>
                        <a:rPr lang="ru-RU" sz="1600" b="1"/>
                        <a:t>функции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Пишутся на .</a:t>
                      </a:r>
                      <a:r>
                        <a:rPr lang="lv-LV" sz="1600"/>
                        <a:t>NET (C#, VB.NET), </a:t>
                      </a:r>
                      <a:r>
                        <a:rPr lang="ru-RU" sz="1600"/>
                        <a:t>подключаются через </a:t>
                      </a:r>
                      <a:r>
                        <a:rPr lang="lv-LV" sz="1600"/>
                        <a:t>CREATE ASSEMBLY. </a:t>
                      </a:r>
                      <a:r>
                        <a:rPr lang="ru-RU" sz="1600"/>
                        <a:t>Используются для сложной логики.</a:t>
                      </a:r>
                      <a:endParaRPr lang="ru-RU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 </a:t>
                      </a:r>
                      <a:r>
                        <a:rPr lang="lv-LV" sz="1600" dirty="0"/>
                        <a:t>SSMS: </a:t>
                      </a:r>
                      <a:r>
                        <a:rPr lang="lv-LV" sz="1600" dirty="0" err="1"/>
                        <a:t>Databases</a:t>
                      </a:r>
                      <a:r>
                        <a:rPr lang="lv-LV" sz="1600" dirty="0"/>
                        <a:t> → [</a:t>
                      </a:r>
                      <a:r>
                        <a:rPr lang="ru-RU" sz="1600" dirty="0" err="1"/>
                        <a:t>ИмяБД</a:t>
                      </a:r>
                      <a:r>
                        <a:rPr lang="ru-RU" sz="1600" dirty="0"/>
                        <a:t>] → </a:t>
                      </a:r>
                      <a:r>
                        <a:rPr lang="lv-LV" sz="1600" dirty="0" err="1"/>
                        <a:t>Programmability</a:t>
                      </a:r>
                      <a:r>
                        <a:rPr lang="lv-LV" sz="1600" dirty="0"/>
                        <a:t> → </a:t>
                      </a:r>
                      <a:r>
                        <a:rPr lang="lv-LV" sz="1600" dirty="0" err="1"/>
                        <a:t>Assemblies</a:t>
                      </a:r>
                      <a:endParaRPr lang="ru-RU" sz="1600" dirty="0"/>
                    </a:p>
                    <a:p>
                      <a:r>
                        <a:rPr lang="ru-RU" sz="1600" dirty="0"/>
                        <a:t>Системные таблицы: </a:t>
                      </a:r>
                      <a:r>
                        <a:rPr lang="lv-LV" sz="1600" dirty="0" err="1"/>
                        <a:t>sys.assembly_modules</a:t>
                      </a:r>
                      <a:endParaRPr lang="lv-LV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Сравнительная таблица по триггерам, процедурам и функциям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788781" y="1690715"/>
          <a:ext cx="10356592" cy="4700560"/>
        </p:xfrm>
        <a:graphic>
          <a:graphicData uri="http://schemas.openxmlformats.org/drawingml/2006/table">
            <a:tbl>
              <a:tblPr/>
              <a:tblGrid>
                <a:gridCol w="2589148"/>
                <a:gridCol w="2589148"/>
                <a:gridCol w="2589148"/>
                <a:gridCol w="2589148"/>
              </a:tblGrid>
              <a:tr h="334718">
                <a:tc>
                  <a:txBody>
                    <a:bodyPr/>
                    <a:lstStyle/>
                    <a:p>
                      <a:pPr algn="ctr"/>
                      <a:r>
                        <a:rPr lang="ru-RU" sz="1800" b="1"/>
                        <a:t>Характеристика</a:t>
                      </a:r>
                      <a:endParaRPr lang="ru-RU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/>
                        <a:t>Функция</a:t>
                      </a:r>
                      <a:endParaRPr lang="ru-RU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/>
                        <a:t>Хранимая процедура</a:t>
                      </a:r>
                      <a:endParaRPr lang="ru-RU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Триггер</a:t>
                      </a:r>
                      <a:endParaRPr lang="ru-RU" sz="1800" b="1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5757">
                <a:tc>
                  <a:txBody>
                    <a:bodyPr/>
                    <a:lstStyle/>
                    <a:p>
                      <a:r>
                        <a:rPr lang="ru-RU" sz="1800" b="1"/>
                        <a:t>Возврат значения</a:t>
                      </a:r>
                      <a:endParaRPr lang="ru-RU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Обязателен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 обязателен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 возвращает значение напрямую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57">
                <a:tc>
                  <a:txBody>
                    <a:bodyPr/>
                    <a:lstStyle/>
                    <a:p>
                      <a:r>
                        <a:rPr lang="ru-RU" sz="1800" b="1"/>
                        <a:t>Возврат таблицы</a:t>
                      </a:r>
                      <a:endParaRPr lang="ru-RU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Да (</a:t>
                      </a:r>
                      <a:r>
                        <a:rPr lang="lv-LV" sz="1800" dirty="0">
                          <a:solidFill>
                            <a:schemeClr val="tx1"/>
                          </a:solidFill>
                        </a:rPr>
                        <a:t>TVF)</a:t>
                      </a:r>
                      <a:endParaRPr lang="lv-LV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Через </a:t>
                      </a:r>
                      <a:r>
                        <a:rPr lang="lv-LV" sz="180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lv-LV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Нет, но может изменять таблицы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796">
                <a:tc>
                  <a:txBody>
                    <a:bodyPr/>
                    <a:lstStyle/>
                    <a:p>
                      <a:r>
                        <a:rPr lang="lv-LV" sz="1800" b="1"/>
                        <a:t>DML (INSERT, UPDATE, DELETE)</a:t>
                      </a:r>
                      <a:endParaRPr lang="lv-LV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Нельзя напрямую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Можно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Можно (с осторожностью, внутри транзакции)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57">
                <a:tc>
                  <a:txBody>
                    <a:bodyPr/>
                    <a:lstStyle/>
                    <a:p>
                      <a:r>
                        <a:rPr lang="lv-LV" sz="1800" b="1"/>
                        <a:t>TRY...CATCH</a:t>
                      </a:r>
                      <a:endParaRPr lang="lv-LV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Есть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Нет (обработка ошибок сложнее)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57">
                <a:tc>
                  <a:txBody>
                    <a:bodyPr/>
                    <a:lstStyle/>
                    <a:p>
                      <a:r>
                        <a:rPr lang="ru-RU" sz="1800" b="1"/>
                        <a:t>Использование в </a:t>
                      </a:r>
                      <a:r>
                        <a:rPr lang="lv-LV" sz="1800" b="1"/>
                        <a:t>SELECT</a:t>
                      </a:r>
                      <a:endParaRPr lang="lv-LV" sz="1800" b="1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Да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796">
                <a:tc>
                  <a:txBody>
                    <a:bodyPr/>
                    <a:lstStyle/>
                    <a:p>
                      <a:r>
                        <a:rPr lang="ru-RU" sz="1800" b="1" dirty="0"/>
                        <a:t>Производительность</a:t>
                      </a:r>
                      <a:endParaRPr lang="ru-RU" sz="1800" b="1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Хорошо для простых операций</a:t>
                      </a:r>
                      <a:endParaRPr lang="ru-RU" sz="18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Лучше для сложных сценариев</a:t>
                      </a:r>
                      <a:endParaRPr lang="ru-RU" sz="180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Зависит от частоты срабатывания и сложности триггера</a:t>
                      </a:r>
                      <a:endParaRPr lang="ru-RU" sz="1800" dirty="0"/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Задачи</a:t>
            </a:r>
            <a:endParaRPr lang="ru-RU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Практическая работа</a:t>
            </a:r>
            <a:endParaRPr lang="ru-RU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16152</Words>
  <Application>WPS Presentation</Application>
  <PresentationFormat>Widescreen</PresentationFormat>
  <Paragraphs>563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宋体-简</vt:lpstr>
      <vt:lpstr>Helvetica Neue Bold</vt:lpstr>
      <vt:lpstr>WPS</vt:lpstr>
      <vt:lpstr>PowerPoint 演示文稿</vt:lpstr>
      <vt:lpstr>Триггеры (Triggers)</vt:lpstr>
      <vt:lpstr>Типы триггеров</vt:lpstr>
      <vt:lpstr>PowerPoint 演示文稿</vt:lpstr>
      <vt:lpstr>Важные особенности триггеров</vt:lpstr>
      <vt:lpstr>Примеры использования</vt:lpstr>
      <vt:lpstr>PowerPoint 演示文稿</vt:lpstr>
      <vt:lpstr>PowerPoint 演示文稿</vt:lpstr>
      <vt:lpstr>PowerPoint 演示文稿</vt:lpstr>
      <vt:lpstr>PowerPoint 演示文稿</vt:lpstr>
      <vt:lpstr>Каскадные триггеры</vt:lpstr>
      <vt:lpstr>Ограничения триггеров</vt:lpstr>
      <vt:lpstr>Best Practices (Рекомендации)</vt:lpstr>
      <vt:lpstr>PowerPoint 演示文稿</vt:lpstr>
      <vt:lpstr>Примеры реальных сценариев</vt:lpstr>
      <vt:lpstr>PowerPoint 演示文稿</vt:lpstr>
      <vt:lpstr>Что такое хранимая процедура?</vt:lpstr>
      <vt:lpstr>Типы процедур</vt:lpstr>
      <vt:lpstr>Зачем нужны процедуры?</vt:lpstr>
      <vt:lpstr>Ограничения процедур</vt:lpstr>
      <vt:lpstr>Синтаксис создания	Синтаксис вызова</vt:lpstr>
      <vt:lpstr>Примеры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Изменение и удаление процедур</vt:lpstr>
      <vt:lpstr>Оптимизация и производительность хранимых процедур</vt:lpstr>
      <vt:lpstr>PowerPoint 演示文稿</vt:lpstr>
      <vt:lpstr>Динамический SQL в процедурах</vt:lpstr>
      <vt:lpstr>PowerPoint 演示文稿</vt:lpstr>
      <vt:lpstr>PowerPoint 演示文稿</vt:lpstr>
      <vt:lpstr>PowerPoint 演示文稿</vt:lpstr>
      <vt:lpstr>Пользовательские функции (UDF - User-Defined Function) в MS SQL Server</vt:lpstr>
      <vt:lpstr>PowerPoint 演示文稿</vt:lpstr>
      <vt:lpstr>PowerPoint 演示文稿</vt:lpstr>
      <vt:lpstr>Виды пользовательских функций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Изменение и удаление функций</vt:lpstr>
      <vt:lpstr>PowerPoint 演示文稿</vt:lpstr>
      <vt:lpstr>Виды функций</vt:lpstr>
      <vt:lpstr>Сравнительная таблица по триггерам, процедурам и функциям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Триггеры, хранимые процедуры и пользовательские функции</dc:title>
  <dc:creator>oksanaroslova</dc:creator>
  <cp:lastModifiedBy>Oksana Roslova</cp:lastModifiedBy>
  <cp:revision>39</cp:revision>
  <dcterms:created xsi:type="dcterms:W3CDTF">2026-09-18T17:34:49Z</dcterms:created>
  <dcterms:modified xsi:type="dcterms:W3CDTF">2026-09-18T17:34:49Z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1979D04A42AD6453D869AD6A1C90C5B9_41</vt:lpwstr>
  </property>
</Properties>
</file>